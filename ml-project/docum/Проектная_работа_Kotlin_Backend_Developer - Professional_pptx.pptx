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310" r:id="rId14"/>
    <p:sldId id="308" r:id="rId15"/>
    <p:sldId id="309" r:id="rId16"/>
    <p:sldId id="311" r:id="rId17"/>
    <p:sldId id="264" r:id="rId18"/>
    <p:sldId id="265" r:id="rId19"/>
    <p:sldId id="266" r:id="rId20"/>
    <p:sldId id="267" r:id="rId21"/>
  </p:sldIdLst>
  <p:sldSz cx="9144000" cy="5143500"/>
  <p:notesSz cx="7559675" cy="1069213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Arial" pitchFamily="2" charset="-52"/>
        <a:ea typeface="DejaVu Sans" pitchFamily="0" charset="0"/>
        <a:cs typeface="DejaVu Sans" pitchFamily="0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55867806" val="1215" revOS="4"/>
      <pr:smFileRevision xmlns:pr="smNativeData" xmlns="smNativeData" dt="1755867806" val="101"/>
      <pr:guideOptions xmlns:pr="smNativeData" xmlns="smNativeData" dt="1755867806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93" d="100"/>
          <a:sy n="93" d="100"/>
        </p:scale>
        <p:origin x="288" y="288"/>
      </p:cViewPr>
      <p:guideLst x="0" y="0"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0" d="100"/>
        <a:sy n="20" d="100"/>
      </p:scale>
      <p:origin x="0" y="0"/>
    </p:cViewPr>
  </p:sorterViewPr>
  <p:notesViewPr>
    <p:cSldViewPr snapToObjects="1" showGuides="1">
      <p:cViewPr>
        <p:scale>
          <a:sx n="93" d="100"/>
          <a:sy n="93" d="100"/>
        </p:scale>
        <p:origin x="288" y="288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ChangeArrowheads="1"/>
            <a:extLst>
              <a:ext uri="smNativeData">
                <pr:smNativeData xmlns:pr="smNativeData" xmlns="smNativeData" val="SMDATA_15_nmqoaBMAAAAlAAAAZAAAAA0AAAAAAAAAAAAAAAAAAAAAAAAAAAAAAAAB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CwBAABvNQAAFQYAABAAAAAmAAAACAAAADwgAAD/HwAA"/>
              </a:ext>
            </a:extLst>
          </p:cNvSpPr>
          <p:nvPr>
            <p:ph type="title"/>
          </p:nvPr>
        </p:nvSpPr>
        <p:spPr>
          <a:noFill/>
          <a:ln>
            <a:noFill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/>
          <a:p>
            <a:pPr indent="0" algn="ctr">
              <a:buNone/>
            </a:pPr>
            <a:endParaRPr lang="en-us" cap="none">
              <a:solidFill>
                <a:srgbClr val="000000"/>
              </a:solidFill>
            </a:endParaRPr>
          </a:p>
        </p:txBody>
      </p:sp>
      <p:sp>
        <p:nvSpPr>
          <p:cNvPr id="3" name="PlaceHolder 2"/>
          <p:cNvSpPr>
            <a:spLocks noGrp="1" noChangeArrowheads="1"/>
            <a:extLst>
              <a:ext uri="smNativeData">
                <pr:smNativeData xmlns:pr="smNativeData" xmlns="smNativeData" val="SMDATA_15_nmqoaBMAAAAlAAAAZAAAAA0AAAAAAAAAAAAAAAAAAAAAAAAAAAAAAAAB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OMGAABvNQAA8xcAABAAAAAmAAAACAAAALwgAAD/HwAA"/>
              </a:ext>
            </a:extLst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/>
          <a:p>
            <a:pPr indent="0" algn="ctr">
              <a:buNone/>
            </a:pPr>
            <a:endParaRPr lang="en-us" cap="none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ChangeArrowheads="1"/>
            <a:extLst>
              <a:ext uri="smNativeData">
                <pr:smNativeData xmlns:pr="smNativeData" xmlns="smNativeData" val="SMDATA_15_nmqoaBMAAAAlAAAAZAAAAA0AAAAAAAAAAAAAAAAAAAAAAAAAAAAAAAAB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CwBAABvNQAAFQYAABAAAAAmAAAACAAAAL0vAAD/HwAA"/>
              </a:ext>
            </a:extLst>
          </p:cNvSpPr>
          <p:nvPr>
            <p:ph type="title"/>
          </p:nvPr>
        </p:nvSpPr>
        <p:spPr>
          <a:xfrm>
            <a:off x="457200" y="190500"/>
            <a:ext cx="8228965" cy="79819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/>
          <a:p>
            <a:pPr indent="0" algn="ctr">
              <a:buNone/>
            </a:pPr>
            <a:r>
              <a:rPr lang="en-us" cap="none">
                <a:solidFill>
                  <a:srgbClr val="000000"/>
                </a:solidFill>
              </a:rPr>
              <a:t>Click to edit the title text format</a:t>
            </a:r>
            <a:endParaRPr lang="en-us" cap="none">
              <a:solidFill>
                <a:srgbClr val="000000"/>
              </a:solidFill>
            </a:endParaRPr>
          </a:p>
        </p:txBody>
      </p:sp>
      <p:sp>
        <p:nvSpPr>
          <p:cNvPr id="3" name="PlaceHolder 2"/>
          <p:cNvSpPr>
            <a:spLocks noGrp="1" noChangeArrowheads="1"/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EsBAh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OMGAABvNQAA8xcAABAAAAAmAAAACAAAAL0vAAD/HwAA"/>
              </a:ext>
            </a:extLst>
          </p:cNvSpPr>
          <p:nvPr>
            <p:ph type="body"/>
          </p:nvPr>
        </p:nvSpPr>
        <p:spPr>
          <a:xfrm>
            <a:off x="457200" y="1119505"/>
            <a:ext cx="8228965" cy="277368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 marL="431800" indent="-323850">
              <a:spcBef>
                <a:spcPts val="1415"/>
              </a:spcBef>
              <a:buClrTx/>
              <a:buSzPts val="1440"/>
              <a:buFont typeface="Wingdings" pitchFamily="0" charset="2"/>
              <a:buChar char=""/>
            </a:pPr>
            <a:r>
              <a:rPr lang="en-us" cap="none">
                <a:solidFill>
                  <a:srgbClr val="000000"/>
                </a:solidFill>
              </a:rPr>
              <a:t>Click to edit the outline text format</a:t>
            </a:r>
            <a:endParaRPr lang="en-us" cap="none">
              <a:solidFill>
                <a:srgbClr val="000000"/>
              </a:solidFill>
            </a:endParaRPr>
          </a:p>
          <a:p>
            <a:pPr lvl="1" marL="864235" indent="-323850">
              <a:spcBef>
                <a:spcPts val="1130"/>
              </a:spcBef>
              <a:buClrTx/>
              <a:buSzPts val="2100"/>
              <a:buFont typeface="Symbol" pitchFamily="1" charset="2"/>
              <a:buChar char=""/>
            </a:pPr>
            <a:r>
              <a:rPr lang="en-us" cap="none">
                <a:solidFill>
                  <a:srgbClr val="000000"/>
                </a:solidFill>
              </a:rPr>
              <a:t>Second Outline Level</a:t>
            </a:r>
            <a:endParaRPr lang="en-us" cap="none">
              <a:solidFill>
                <a:srgbClr val="000000"/>
              </a:solidFill>
            </a:endParaRPr>
          </a:p>
          <a:p>
            <a:pPr lvl="2" marL="1296035" indent="-288290">
              <a:spcBef>
                <a:spcPts val="850"/>
              </a:spcBef>
              <a:buClrTx/>
              <a:buSzPts val="1080"/>
              <a:buFont typeface="Wingdings" pitchFamily="0" charset="2"/>
              <a:buChar char=""/>
            </a:pPr>
            <a:r>
              <a:rPr lang="en-us" cap="none">
                <a:solidFill>
                  <a:srgbClr val="000000"/>
                </a:solidFill>
              </a:rPr>
              <a:t>Third Outline Level</a:t>
            </a:r>
            <a:endParaRPr lang="en-us" cap="none">
              <a:solidFill>
                <a:srgbClr val="000000"/>
              </a:solidFill>
            </a:endParaRPr>
          </a:p>
          <a:p>
            <a:pPr lvl="3" marL="1727835" indent="-215900">
              <a:spcBef>
                <a:spcPts val="565"/>
              </a:spcBef>
              <a:buClrTx/>
              <a:buSzPts val="1500"/>
              <a:buFont typeface="Symbol" pitchFamily="1" charset="2"/>
              <a:buChar char=""/>
            </a:pPr>
            <a:r>
              <a:rPr lang="en-us" cap="none">
                <a:solidFill>
                  <a:srgbClr val="000000"/>
                </a:solidFill>
              </a:rPr>
              <a:t>Fourth Outline Level</a:t>
            </a:r>
            <a:endParaRPr lang="en-us" cap="none">
              <a:solidFill>
                <a:srgbClr val="000000"/>
              </a:solidFill>
            </a:endParaRPr>
          </a:p>
          <a:p>
            <a:pPr lvl="4" marL="2160270" indent="-215900">
              <a:spcBef>
                <a:spcPts val="280"/>
              </a:spcBef>
              <a:buClrTx/>
              <a:buSzPts val="900"/>
              <a:buFont typeface="Wingdings" pitchFamily="0" charset="2"/>
              <a:buChar char=""/>
            </a:pPr>
            <a:r>
              <a:rPr lang="en-us" cap="none">
                <a:solidFill>
                  <a:srgbClr val="000000"/>
                </a:solidFill>
              </a:rPr>
              <a:t>Fifth Outline Level</a:t>
            </a:r>
            <a:endParaRPr lang="en-us" cap="none">
              <a:solidFill>
                <a:srgbClr val="000000"/>
              </a:solidFill>
            </a:endParaRPr>
          </a:p>
          <a:p>
            <a:pPr lvl="5" marL="2592070" indent="-215900">
              <a:spcBef>
                <a:spcPts val="280"/>
              </a:spcBef>
              <a:buClrTx/>
              <a:buSzPts val="900"/>
              <a:buFont typeface="Wingdings" pitchFamily="0" charset="2"/>
              <a:buChar char=""/>
            </a:pPr>
            <a:r>
              <a:rPr lang="en-us" cap="none">
                <a:solidFill>
                  <a:srgbClr val="000000"/>
                </a:solidFill>
              </a:rPr>
              <a:t>Sixth Outline Level</a:t>
            </a:r>
            <a:endParaRPr lang="en-us" cap="none">
              <a:solidFill>
                <a:srgbClr val="000000"/>
              </a:solidFill>
            </a:endParaRPr>
          </a:p>
          <a:p>
            <a:pPr lvl="6" marL="3023870" indent="-215900">
              <a:spcBef>
                <a:spcPts val="280"/>
              </a:spcBef>
              <a:buClrTx/>
              <a:buSzPts val="900"/>
              <a:buFont typeface="Wingdings" pitchFamily="0" charset="2"/>
              <a:buChar char=""/>
            </a:pPr>
            <a:r>
              <a:rPr lang="en-us" cap="none">
                <a:solidFill>
                  <a:srgbClr val="000000"/>
                </a:solidFill>
              </a:rPr>
              <a:t>Seventh Outline Level</a:t>
            </a:r>
            <a:endParaRPr lang="en-us" cap="none">
              <a:solidFill>
                <a:srgbClr val="000000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1pPr>
    </p:titleStyle>
    <p:bodyStyle>
      <a:lvl1pPr marL="342900" marR="0" indent="-3429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1pPr>
      <a:lvl2pPr marL="742950" marR="0" indent="-28575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2pPr>
      <a:lvl3pPr marL="1143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3pPr>
      <a:lvl4pPr marL="1600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4pPr>
      <a:lvl5pPr marL="20574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5pPr>
      <a:lvl6pPr marL="25146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6pPr>
      <a:lvl7pPr marL="29718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7pPr>
      <a:lvl8pPr marL="3429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8pPr>
      <a:lvl9pPr marL="3886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-52"/>
          <a:ea typeface="SimSun" pitchFamily="0" charset="0"/>
          <a:cs typeface="Times New Roman" pitchFamily="1" charset="-52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8.jpe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9.png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0.png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1.jpeg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2.png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3.png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4.png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5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6.jpeg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17.png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3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D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iP///wAAAABAOAAApB8AABAAAAAmAAAACAAAAP//////////"/>
              </a:ext>
            </a:extLst>
          </p:cNvSpPr>
          <p:nvPr/>
        </p:nvSpPr>
        <p:spPr>
          <a:xfrm>
            <a:off x="-76200" y="0"/>
            <a:ext cx="9220200" cy="5143500"/>
          </a:xfrm>
          <a:custGeom>
            <a:avLst/>
            <a:gdLst/>
            <a:ahLst/>
            <a:cxnLst/>
            <a:rect l="0" t="0" r="9220200" b="5143500"/>
            <a:pathLst>
              <a:path w="9220200" h="5143500">
                <a:moveTo>
                  <a:pt x="0" y="0"/>
                </a:moveTo>
                <a:lnTo>
                  <a:pt x="9220200" y="0"/>
                </a:lnTo>
                <a:lnTo>
                  <a:pt x="92202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5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E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j////i/P//PzgAAJk1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-76200" y="-506730"/>
            <a:ext cx="9219565" cy="9219565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6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G8BAABaAgAAfh0AAF0H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" y="382270"/>
            <a:ext cx="4561205" cy="81470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7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dA+0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dA+0AP///wEAAAAAAAAAAAAAAAAAAAAAAAAAAAAAAAAAAAAAAAAAAAAAAAJ/f38A////A8zMzADAwP8Af39/AAAAAAAAAAAAAAAAAAAAAAAAAAAAIQAAABgAAAAUAAAAqgIAAGcDAABEHAAA9gUAABAAAAAmAAAACAAAAP//////////"/>
              </a:ext>
            </a:extLst>
          </p:cNvSpPr>
          <p:nvPr/>
        </p:nvSpPr>
        <p:spPr>
          <a:xfrm>
            <a:off x="433070" y="553085"/>
            <a:ext cx="4161790" cy="415925"/>
          </a:xfrm>
          <a:custGeom>
            <a:avLst/>
            <a:gdLst/>
            <a:ahLst/>
            <a:cxnLst/>
            <a:rect l="0" t="0" r="4161790" b="415925"/>
            <a:pathLst>
              <a:path w="4161790" h="415925">
                <a:moveTo>
                  <a:pt x="0" y="69140"/>
                </a:moveTo>
                <a:cubicBezTo>
                  <a:pt x="0" y="30969"/>
                  <a:pt x="30959" y="0"/>
                  <a:pt x="69117" y="0"/>
                </a:cubicBezTo>
                <a:lnTo>
                  <a:pt x="4092313" y="0"/>
                </a:lnTo>
                <a:cubicBezTo>
                  <a:pt x="4110672" y="0"/>
                  <a:pt x="4128311" y="7202"/>
                  <a:pt x="4141271" y="20166"/>
                </a:cubicBezTo>
                <a:cubicBezTo>
                  <a:pt x="4154230" y="33129"/>
                  <a:pt x="4161790" y="50775"/>
                  <a:pt x="4161790" y="69140"/>
                </a:cubicBezTo>
                <a:lnTo>
                  <a:pt x="4161790" y="346784"/>
                </a:lnTo>
                <a:cubicBezTo>
                  <a:pt x="4161790" y="384955"/>
                  <a:pt x="4130471" y="415925"/>
                  <a:pt x="4092313" y="415925"/>
                </a:cubicBezTo>
                <a:lnTo>
                  <a:pt x="69117" y="415925"/>
                </a:lnTo>
                <a:cubicBezTo>
                  <a:pt x="30959" y="415925"/>
                  <a:pt x="0" y="384955"/>
                  <a:pt x="0" y="346784"/>
                </a:cubicBezTo>
                <a:lnTo>
                  <a:pt x="0" y="69140"/>
                </a:lnTo>
                <a:close/>
              </a:path>
            </a:pathLst>
          </a:custGeom>
          <a:solidFill>
            <a:srgbClr val="740FB4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qgIAAKILAABSMQAAiRQAABAAAAAmAAAACAAAAP//////////"/>
              </a:ext>
            </a:extLst>
          </p:cNvSpPr>
          <p:nvPr/>
        </p:nvSpPr>
        <p:spPr>
          <a:xfrm>
            <a:off x="433070" y="1891030"/>
            <a:ext cx="7584440" cy="1447165"/>
          </a:xfrm>
          <a:custGeom>
            <a:avLst/>
            <a:gdLst/>
            <a:ahLst/>
            <a:cxnLst/>
            <a:rect l="0" t="0" r="7584440" b="1447165"/>
            <a:pathLst>
              <a:path w="7584440" h="1447165">
                <a:moveTo>
                  <a:pt x="0" y="0"/>
                </a:moveTo>
                <a:lnTo>
                  <a:pt x="7584440" y="0"/>
                </a:lnTo>
                <a:lnTo>
                  <a:pt x="7584440" y="1447165"/>
                </a:lnTo>
                <a:lnTo>
                  <a:pt x="0" y="144716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9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MQMAAM8LAAC5GQAALhAAAAAgAAAmAAAACAAAAP//////////"/>
              </a:ext>
            </a:extLst>
          </p:cNvSpPr>
          <p:nvPr/>
        </p:nvSpPr>
        <p:spPr>
          <a:xfrm>
            <a:off x="518795" y="1919605"/>
            <a:ext cx="3662680" cy="7105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sz="2400" b="0" i="1" cap="none">
                <a:solidFill>
                  <a:srgbClr val="FFFFFF"/>
                </a:solidFill>
              </a:defRPr>
            </a:pPr>
            <a:r>
              <a:rPr lang="en-us" cap="none">
                <a:latin typeface="Roboto" pitchFamily="0" charset="0"/>
                <a:ea typeface="Roboto" pitchFamily="0" charset="0"/>
                <a:cs typeface="DejaVu Sans" pitchFamily="0" charset="0"/>
              </a:rPr>
              <a:t>Масштабируемая система</a:t>
            </a:r>
            <a:r>
              <a:rPr lang="en-us" cap="none">
                <a:latin typeface="Times New Roman" pitchFamily="1" charset="-52"/>
                <a:ea typeface="DejaVu Sans" pitchFamily="0" charset="0"/>
                <a:cs typeface="DejaVu Sans" pitchFamily="0" charset="0"/>
              </a:rPr>
              <a:t> </a:t>
            </a:r>
            <a:endParaRPr lang="en-us" cap="none"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  <a:p>
            <a:pPr>
              <a:defRPr sz="2400" b="0" i="1" cap="none">
                <a:solidFill>
                  <a:srgbClr val="FFFFFF"/>
                </a:solidFill>
              </a:defRPr>
            </a:pPr>
            <a:r>
              <a:rPr lang="en-us" cap="none">
                <a:latin typeface="Times New Roman" pitchFamily="1" charset="-52"/>
                <a:ea typeface="DejaVu Sans" pitchFamily="0" charset="0"/>
                <a:cs typeface="DejaVu Sans" pitchFamily="0" charset="0"/>
              </a:rPr>
              <a:t>для выполнения задач машинного обучения</a:t>
            </a:r>
            <a:endParaRPr lang="en-us" cap="none"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  <a:p>
            <a:pPr>
              <a:defRPr sz="2400" b="0" i="1" cap="none">
                <a:solidFill>
                  <a:srgbClr val="FFFFFF"/>
                </a:solidFill>
              </a:defRPr>
            </a:pPr>
            <a:r>
              <a:rPr lang="en-us" cap="none">
                <a:latin typeface="Times New Roman" pitchFamily="1" charset="-52"/>
                <a:ea typeface="DejaVu Sans" pitchFamily="0" charset="0"/>
                <a:cs typeface="DejaVu Sans" pitchFamily="0" charset="0"/>
              </a:rPr>
              <a:t> с использованием Kotlin</a:t>
            </a:r>
            <a:endParaRPr lang="en-us" cap="none"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Кривая6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hQMAAGcDAAA6HgAA9gUAABAAAAAmAAAACAAAAP//////////"/>
              </a:ext>
            </a:extLst>
          </p:cNvSpPr>
          <p:nvPr/>
        </p:nvSpPr>
        <p:spPr>
          <a:xfrm>
            <a:off x="572135" y="553085"/>
            <a:ext cx="4341495" cy="415925"/>
          </a:xfrm>
          <a:custGeom>
            <a:avLst/>
            <a:gdLst/>
            <a:ahLst/>
            <a:cxnLst/>
            <a:rect l="0" t="0" r="4341495" b="415925"/>
            <a:pathLst>
              <a:path w="4341495" h="415925">
                <a:moveTo>
                  <a:pt x="0" y="0"/>
                </a:moveTo>
                <a:lnTo>
                  <a:pt x="4341495" y="0"/>
                </a:lnTo>
                <a:lnTo>
                  <a:pt x="4341495" y="415925"/>
                </a:lnTo>
                <a:lnTo>
                  <a:pt x="0" y="41592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1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H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MQMAAKcPAADiEAAABhQAAAAgAAAmAAAACAAAAP//////////"/>
              </a:ext>
            </a:extLst>
          </p:cNvSpPr>
          <p:nvPr/>
        </p:nvSpPr>
        <p:spPr>
          <a:xfrm>
            <a:off x="518795" y="2544445"/>
            <a:ext cx="2225675" cy="7105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4100" cap="none">
                <a:solidFill>
                  <a:srgbClr val="000000"/>
                </a:solidFill>
                <a:latin typeface="Times New Roman" pitchFamily="1" charset="-52"/>
                <a:ea typeface="DejaVu Sans" pitchFamily="0" charset="0"/>
                <a:cs typeface="DejaVu Sans" pitchFamily="0" charset="0"/>
              </a:defRPr>
            </a:pPr>
          </a:p>
        </p:txBody>
      </p:sp>
      <p:sp>
        <p:nvSpPr>
          <p:cNvPr id="12" name="Кривая7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H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rjAAAKcBAAC+NQAAaAMAABAAAAAmAAAACAAAAP//////////"/>
              </a:ext>
            </a:extLst>
          </p:cNvSpPr>
          <p:nvPr/>
        </p:nvSpPr>
        <p:spPr>
          <a:xfrm>
            <a:off x="7913370" y="268605"/>
            <a:ext cx="822960" cy="285115"/>
          </a:xfrm>
          <a:custGeom>
            <a:avLst/>
            <a:gdLst/>
            <a:ahLst/>
            <a:cxnLst/>
            <a:rect l="0" t="0" r="822960" b="285115"/>
            <a:pathLst>
              <a:path w="822960" h="285115">
                <a:moveTo>
                  <a:pt x="0" y="0"/>
                </a:moveTo>
                <a:lnTo>
                  <a:pt x="822960" y="0"/>
                </a:lnTo>
                <a:lnTo>
                  <a:pt x="822960" y="285115"/>
                </a:lnTo>
                <a:lnTo>
                  <a:pt x="0" y="28511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13" name="Изображение5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K8wAACnAQAAvTUAAGcDAAAQAAAAJgAAAAgAAAD//////////w=="/>
              </a:ext>
            </a:extLst>
          </p:cNvPicPr>
          <p:nvPr/>
        </p:nvPicPr>
        <p:blipFill>
          <a:blip r:embed="rId5"/>
          <a:stretch>
            <a:fillRect/>
          </a:stretch>
        </p:blipFill>
        <p:spPr>
          <a:xfrm>
            <a:off x="7914005" y="268605"/>
            <a:ext cx="821690" cy="28448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4" name="Кривая5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4SkAAP8MAADhNAAAiB4AABAAAAAmAAAACAAAAP//////////"/>
              </a:ext>
            </a:extLst>
          </p:cNvSpPr>
          <p:nvPr/>
        </p:nvSpPr>
        <p:spPr>
          <a:xfrm>
            <a:off x="6807835" y="2112645"/>
            <a:ext cx="1788160" cy="2850515"/>
          </a:xfrm>
          <a:custGeom>
            <a:avLst/>
            <a:gdLst/>
            <a:ahLst/>
            <a:cxnLst/>
            <a:rect l="0" t="0" r="1788160" b="2850515"/>
            <a:pathLst>
              <a:path w="1788160" h="2850515">
                <a:moveTo>
                  <a:pt x="0" y="0"/>
                </a:moveTo>
                <a:lnTo>
                  <a:pt x="1788160" y="0"/>
                </a:lnTo>
                <a:lnTo>
                  <a:pt x="1788160" y="2850515"/>
                </a:lnTo>
                <a:lnTo>
                  <a:pt x="0" y="285051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15" name="Изображение4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OEpAAAADQAA4DQAAIceAAAQAAAAJgAAAAgAAAD//////////w=="/>
              </a:ext>
            </a:extLst>
          </p:cNvPicPr>
          <p:nvPr/>
        </p:nvPicPr>
        <p:blipFill>
          <a:blip r:embed="rId6"/>
          <a:stretch>
            <a:fillRect/>
          </a:stretch>
        </p:blipFill>
        <p:spPr>
          <a:xfrm>
            <a:off x="6807835" y="2113280"/>
            <a:ext cx="1787525" cy="284924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6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DAQAAM4DAADPGwAATAUAAAAAAAAmAAAACAAAAP//////////"/>
              </a:ext>
            </a:extLst>
          </p:cNvSpPr>
          <p:nvPr/>
        </p:nvSpPr>
        <p:spPr>
          <a:xfrm>
            <a:off x="657860" y="618490"/>
            <a:ext cx="386270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>
              <a:defRPr lang="en-us" sz="1600" i="1" cap="none">
                <a:solidFill>
                  <a:srgbClr val="F4F4F6"/>
                </a:solidFill>
                <a:latin typeface="Roboto" pitchFamily="0" charset="0"/>
                <a:ea typeface="Roboto" pitchFamily="0" charset="0"/>
                <a:cs typeface="DejaVu Sans" pitchFamily="0" charset="0"/>
              </a:defRPr>
            </a:pPr>
            <a:r>
              <a:t>Kotlin Backend Developer. Professional</a:t>
            </a:r>
          </a:p>
        </p:txBody>
      </p:sp>
      <p:sp>
        <p:nvSpPr>
          <p:cNvPr id="17" name="Текстовое поле1"/>
          <p:cNvSpPr txBox="1">
            <a:extLst>
              <a:ext uri="smNativeData">
                <pr:smNativeData xmlns:pr="smNativeData" xmlns="smNativeData" val="SMDATA_15_nmqoaBMAAAAlAAAAEgAAAE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NwI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iAMAAJ8GAABGDQAA3wgAAAAgAAAmAAAACAAAAP//////////"/>
              </a:ext>
            </a:extLst>
          </p:cNvSpPr>
          <p:nvPr/>
        </p:nvSpPr>
        <p:spPr>
          <a:xfrm>
            <a:off x="574040" y="1076325"/>
            <a:ext cx="158369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cap="none">
                <a:solidFill>
                  <a:schemeClr val="bg1"/>
                </a:solidFill>
              </a:defRPr>
            </a:pPr>
            <a:r>
              <a:t>otus.ru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lAQAALYIAABlNQAAbBEAABAAAAAmAAAACAAAAP//////////"/>
              </a:ext>
            </a:extLst>
          </p:cNvSpPr>
          <p:nvPr/>
        </p:nvSpPr>
        <p:spPr>
          <a:xfrm>
            <a:off x="744220" y="1416050"/>
            <a:ext cx="7935595" cy="1416050"/>
          </a:xfrm>
          <a:custGeom>
            <a:avLst/>
            <a:gdLst/>
            <a:ahLst/>
            <a:cxnLst/>
            <a:rect l="0" t="0" r="7935595" b="1416050"/>
            <a:pathLst>
              <a:path w="7935595" h="1416050">
                <a:moveTo>
                  <a:pt x="0" y="0"/>
                </a:moveTo>
                <a:lnTo>
                  <a:pt x="7935595" y="0"/>
                </a:lnTo>
                <a:lnTo>
                  <a:pt x="7935595" y="1416050"/>
                </a:lnTo>
                <a:lnTo>
                  <a:pt x="0" y="14160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GwUAAPoIAABTJgAAPA0AABAgAAAmAAAACAAAAP//////////"/>
              </a:ext>
            </a:extLst>
          </p:cNvSpPr>
          <p:nvPr/>
        </p:nvSpPr>
        <p:spPr>
          <a:xfrm>
            <a:off x="829945" y="1459230"/>
            <a:ext cx="5400040" cy="6921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4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Меня хорошо видно</a:t>
            </a:r>
            <a:endParaRPr lang="en-us" sz="4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gAkAAKEXAADbDAAA/RoAABAAAAAmAAAACAAAAP//////////"/>
              </a:ext>
            </a:extLst>
          </p:cNvSpPr>
          <p:nvPr/>
        </p:nvSpPr>
        <p:spPr>
          <a:xfrm>
            <a:off x="1544320" y="3841115"/>
            <a:ext cx="545465" cy="546100"/>
          </a:xfrm>
          <a:custGeom>
            <a:avLst/>
            <a:gdLst/>
            <a:ahLst/>
            <a:cxnLst/>
            <a:rect l="0" t="0" r="545465" b="546100"/>
            <a:pathLst>
              <a:path w="545465" h="546100">
                <a:moveTo>
                  <a:pt x="0" y="0"/>
                </a:moveTo>
                <a:lnTo>
                  <a:pt x="545465" y="0"/>
                </a:lnTo>
                <a:lnTo>
                  <a:pt x="545465" y="546100"/>
                </a:lnTo>
                <a:lnTo>
                  <a:pt x="0" y="5461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7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AJAAChFwAA2gwAAPw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544320" y="3841115"/>
            <a:ext cx="544830" cy="54546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O8XAABiCAAAPhsAABAAAAAmAAAACAAAAP//////////"/>
              </a:ext>
            </a:extLst>
          </p:cNvSpPr>
          <p:nvPr/>
        </p:nvSpPr>
        <p:spPr>
          <a:xfrm>
            <a:off x="825500" y="3890645"/>
            <a:ext cx="537210" cy="537845"/>
          </a:xfrm>
          <a:custGeom>
            <a:avLst/>
            <a:gdLst/>
            <a:ahLst/>
            <a:cxnLst/>
            <a:rect l="0" t="0" r="537210" b="537845"/>
            <a:pathLst>
              <a:path w="537210" h="537845">
                <a:moveTo>
                  <a:pt x="0" y="0"/>
                </a:moveTo>
                <a:lnTo>
                  <a:pt x="537210" y="0"/>
                </a:lnTo>
                <a:lnTo>
                  <a:pt x="537210" y="537845"/>
                </a:lnTo>
                <a:lnTo>
                  <a:pt x="0" y="5378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9" name="Изображение3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BQFAADvFwAAYQgAAD0b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3890645"/>
            <a:ext cx="536575" cy="5372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0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GwUAALoMAAALFwAA/BAAABAgAAAmAAAACAAAAP//////////"/>
              </a:ext>
            </a:extLst>
          </p:cNvSpPr>
          <p:nvPr/>
        </p:nvSpPr>
        <p:spPr>
          <a:xfrm>
            <a:off x="829945" y="2068830"/>
            <a:ext cx="2915920" cy="6921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4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&amp; слышно?</a:t>
            </a:r>
            <a:endParaRPr lang="en-us" sz="4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E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0FAAB/NwAAYhAAABAAAAAmAAAACAAAAP//////////"/>
              </a:ext>
            </a:extLst>
          </p:cNvSpPr>
          <p:nvPr/>
        </p:nvSpPr>
        <p:spPr>
          <a:xfrm>
            <a:off x="500380" y="821055"/>
            <a:ext cx="8521065" cy="1842135"/>
          </a:xfrm>
          <a:custGeom>
            <a:avLst/>
            <a:gdLst/>
            <a:ahLst/>
            <a:cxnLst/>
            <a:rect l="0" t="0" r="8521065" b="1842135"/>
            <a:pathLst>
              <a:path w="8521065" h="1842135">
                <a:moveTo>
                  <a:pt x="0" y="0"/>
                </a:moveTo>
                <a:lnTo>
                  <a:pt x="8521065" y="0"/>
                </a:lnTo>
                <a:lnTo>
                  <a:pt x="8521065" y="1842135"/>
                </a:lnTo>
                <a:lnTo>
                  <a:pt x="0" y="184213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O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FMFAADfFwAAgwgAABAgAAAmAAAACAAAAP//////////"/>
              </a:ext>
            </a:extLst>
          </p:cNvSpPr>
          <p:nvPr/>
        </p:nvSpPr>
        <p:spPr>
          <a:xfrm>
            <a:off x="586740" y="865505"/>
            <a:ext cx="3293745" cy="518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Защита проекта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4AMAAEINAABVEgAAhhsAABAAAAAmAAAACAAAAP//////////"/>
              </a:ext>
            </a:extLst>
          </p:cNvSpPr>
          <p:nvPr/>
        </p:nvSpPr>
        <p:spPr>
          <a:xfrm>
            <a:off x="629920" y="2155190"/>
            <a:ext cx="2350135" cy="2319020"/>
          </a:xfrm>
          <a:custGeom>
            <a:avLst/>
            <a:gdLst/>
            <a:ahLst/>
            <a:cxnLst/>
            <a:rect l="0" t="0" r="2350135" b="2319020"/>
            <a:pathLst>
              <a:path w="2350135" h="2319020">
                <a:moveTo>
                  <a:pt x="0" y="1159330"/>
                </a:moveTo>
                <a:cubicBezTo>
                  <a:pt x="0" y="518818"/>
                  <a:pt x="526251" y="0"/>
                  <a:pt x="1175247" y="0"/>
                </a:cubicBezTo>
                <a:cubicBezTo>
                  <a:pt x="1486967" y="0"/>
                  <a:pt x="1785728" y="122054"/>
                  <a:pt x="2006019" y="339518"/>
                </a:cubicBezTo>
                <a:cubicBezTo>
                  <a:pt x="2226311" y="556982"/>
                  <a:pt x="2350135" y="851856"/>
                  <a:pt x="2350135" y="1159330"/>
                </a:cubicBezTo>
                <a:cubicBezTo>
                  <a:pt x="2350135" y="1799842"/>
                  <a:pt x="1824243" y="2319020"/>
                  <a:pt x="1175247" y="2319020"/>
                </a:cubicBezTo>
                <a:cubicBezTo>
                  <a:pt x="526251" y="2319020"/>
                  <a:pt x="0" y="1799842"/>
                  <a:pt x="0" y="1159330"/>
                </a:cubicBez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/BcAAFUQAADDLgAANRMAAAAAAAAmAAAACAAAAP//////////"/>
              </a:ext>
            </a:extLst>
          </p:cNvSpPr>
          <p:nvPr/>
        </p:nvSpPr>
        <p:spPr>
          <a:xfrm>
            <a:off x="3898900" y="2654935"/>
            <a:ext cx="3702685" cy="467360"/>
          </a:xfrm>
          <a:custGeom>
            <a:avLst/>
            <a:gdLst/>
            <a:ahLst/>
            <a:cxnLst/>
            <a:rect l="0" t="0" r="3702685" b="467360"/>
            <a:pathLst>
              <a:path w="3702685" h="467360">
                <a:moveTo>
                  <a:pt x="0" y="0"/>
                </a:moveTo>
                <a:lnTo>
                  <a:pt x="3702685" y="0"/>
                </a:lnTo>
                <a:lnTo>
                  <a:pt x="3702685" y="467360"/>
                </a:lnTo>
                <a:lnTo>
                  <a:pt x="0" y="46736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K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CMIAAAECwAAUwsAAAAgAAAmAAAACAAAAP//////////"/>
              </a:ext>
            </a:extLst>
          </p:cNvSpPr>
          <p:nvPr/>
        </p:nvSpPr>
        <p:spPr>
          <a:xfrm>
            <a:off x="586740" y="1322705"/>
            <a:ext cx="1203960" cy="518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2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Тема: Масштабируемая система для</a:t>
            </a:r>
          </a:p>
          <a:p>
            <a:pPr>
              <a:defRPr lang="en-us" sz="2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выполнения задач машинного обучения с</a:t>
            </a:r>
          </a:p>
          <a:p>
            <a:pPr>
              <a:defRPr lang="en-us" sz="2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Использованием Kotlin</a:t>
            </a:r>
          </a:p>
        </p:txBody>
      </p:sp>
      <p:sp>
        <p:nvSpPr>
          <p:cNvPr id="9" name="Кривая5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/BcAAGwTAADKLgAAkxUAABAAAAAmAAAACAAAAP//////////"/>
              </a:ext>
            </a:extLst>
          </p:cNvSpPr>
          <p:nvPr/>
        </p:nvSpPr>
        <p:spPr>
          <a:xfrm>
            <a:off x="3898900" y="3157220"/>
            <a:ext cx="3707130" cy="349885"/>
          </a:xfrm>
          <a:custGeom>
            <a:avLst/>
            <a:gdLst/>
            <a:ahLst/>
            <a:cxnLst/>
            <a:rect l="0" t="0" r="3707130" b="349885"/>
            <a:pathLst>
              <a:path w="3707130" h="349885">
                <a:moveTo>
                  <a:pt x="0" y="0"/>
                </a:moveTo>
                <a:lnTo>
                  <a:pt x="3707130" y="0"/>
                </a:lnTo>
                <a:lnTo>
                  <a:pt x="3707130" y="349885"/>
                </a:lnTo>
                <a:lnTo>
                  <a:pt x="0" y="34988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bBMAAMYQAAAEJQAAVRMAAAAAAAAmAAAACAAAAP//////////"/>
              </a:ext>
            </a:extLst>
          </p:cNvSpPr>
          <p:nvPr/>
        </p:nvSpPr>
        <p:spPr>
          <a:xfrm>
            <a:off x="3157220" y="2726690"/>
            <a:ext cx="2860040" cy="4159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>
              <a:defRPr lang="en-us" sz="2000" b="0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defRPr>
            </a:pPr>
            <a:r>
              <a:t>Филатов Алексей</a:t>
            </a:r>
          </a:p>
        </p:txBody>
      </p:sp>
      <p:sp>
        <p:nvSpPr>
          <p:cNvPr id="11" name="Прямоугольник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bBMAAN0TAABOKgAAARUAAAAAAAAmAAAACAAAAP//////////"/>
              </a:ext>
            </a:extLst>
          </p:cNvSpPr>
          <p:nvPr/>
        </p:nvSpPr>
        <p:spPr>
          <a:xfrm>
            <a:off x="3157220" y="3228975"/>
            <a:ext cx="3719830" cy="1854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>
              <a:defRPr lang="en-us" sz="13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defRPr>
            </a:pPr>
            <a:r>
              <a:t>РСХБ. Автоматизация</a:t>
            </a:r>
          </a:p>
        </p:txBody>
      </p:sp>
      <p:pic>
        <p:nvPicPr>
          <p:cNvPr id="12" name="Изображение2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CAgIC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8GAABxDgAAxhAAAEcb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2347595"/>
            <a:ext cx="1650365" cy="20866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UAMAACUCAAC7NwAAOAYAABAAAAAmAAAACAAAAP//////////"/>
              </a:ext>
            </a:extLst>
          </p:cNvSpPr>
          <p:nvPr/>
        </p:nvSpPr>
        <p:spPr>
          <a:xfrm>
            <a:off x="538480" y="348615"/>
            <a:ext cx="8521065" cy="662305"/>
          </a:xfrm>
          <a:custGeom>
            <a:avLst/>
            <a:gdLst/>
            <a:ahLst/>
            <a:cxnLst/>
            <a:rect l="0" t="0" r="8521065" b="662305"/>
            <a:pathLst>
              <a:path w="8521065" h="662305">
                <a:moveTo>
                  <a:pt x="0" y="0"/>
                </a:moveTo>
                <a:lnTo>
                  <a:pt x="8521065" y="0"/>
                </a:lnTo>
                <a:lnTo>
                  <a:pt x="8521065" y="662305"/>
                </a:lnTo>
                <a:lnTo>
                  <a:pt x="0" y="66230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5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BGBwAAIBwAAEoK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1182370"/>
            <a:ext cx="3498850" cy="4902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IEHAADGGwAA0gkAABAAAAAmAAAACAAAAP//////////"/>
              </a:ext>
            </a:extLst>
          </p:cNvSpPr>
          <p:nvPr/>
        </p:nvSpPr>
        <p:spPr>
          <a:xfrm>
            <a:off x="1130300" y="121983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639"/>
                </a:moveTo>
                <a:cubicBezTo>
                  <a:pt x="0" y="2807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479"/>
                  <a:pt x="3366193" y="18359"/>
                </a:cubicBezTo>
                <a:cubicBezTo>
                  <a:pt x="3378071" y="30239"/>
                  <a:pt x="3384550" y="46079"/>
                  <a:pt x="3384550" y="62639"/>
                </a:cubicBezTo>
                <a:lnTo>
                  <a:pt x="3384550" y="31391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915"/>
                </a:cubicBezTo>
                <a:lnTo>
                  <a:pt x="0" y="6263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1wMAAGkCAAA3FQAAtgUAABAgAAAmAAAACAAAAP//////////"/>
              </a:ext>
            </a:extLst>
          </p:cNvSpPr>
          <p:nvPr/>
        </p:nvSpPr>
        <p:spPr>
          <a:xfrm>
            <a:off x="624205" y="391795"/>
            <a:ext cx="2824480" cy="5365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1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План защиты</a:t>
            </a:r>
            <a:endParaRPr lang="en-us" sz="31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8" name="Изображение3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DXCgAAIBwAANsN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1762125"/>
            <a:ext cx="3498850" cy="4902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BMLAADGGwAAZA0AABAAAAAmAAAACAAAAP//////////"/>
              </a:ext>
            </a:extLst>
          </p:cNvSpPr>
          <p:nvPr/>
        </p:nvSpPr>
        <p:spPr>
          <a:xfrm>
            <a:off x="1130300" y="180022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639"/>
                </a:moveTo>
                <a:cubicBezTo>
                  <a:pt x="0" y="2771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479"/>
                  <a:pt x="3366193" y="18359"/>
                </a:cubicBezTo>
                <a:cubicBezTo>
                  <a:pt x="3378071" y="29879"/>
                  <a:pt x="3384550" y="45719"/>
                  <a:pt x="3384550" y="62639"/>
                </a:cubicBezTo>
                <a:lnTo>
                  <a:pt x="3384550" y="31355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555"/>
                </a:cubicBezTo>
                <a:lnTo>
                  <a:pt x="0" y="6263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OYHAAB5DwAAZAkAABAgAAAmAAAACAAAAP//////////"/>
              </a:ext>
            </a:extLst>
          </p:cNvSpPr>
          <p:nvPr/>
        </p:nvSpPr>
        <p:spPr>
          <a:xfrm>
            <a:off x="1310640" y="1283970"/>
            <a:ext cx="120459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Цели проекта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11" name="Изображение4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BpDgAAIBwAAG0R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2342515"/>
            <a:ext cx="3498850" cy="4902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Кривая5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KUOAADGGwAA9hAAABAAAAAmAAAACAAAAP//////////"/>
              </a:ext>
            </a:extLst>
          </p:cNvSpPr>
          <p:nvPr/>
        </p:nvSpPr>
        <p:spPr>
          <a:xfrm>
            <a:off x="1130300" y="238061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639"/>
                </a:moveTo>
                <a:cubicBezTo>
                  <a:pt x="0" y="2807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479"/>
                  <a:pt x="3366193" y="18359"/>
                </a:cubicBezTo>
                <a:cubicBezTo>
                  <a:pt x="3378071" y="30239"/>
                  <a:pt x="3384550" y="46079"/>
                  <a:pt x="3384550" y="62639"/>
                </a:cubicBezTo>
                <a:lnTo>
                  <a:pt x="3384550" y="31391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915"/>
                </a:cubicBezTo>
                <a:lnTo>
                  <a:pt x="0" y="6263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3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HgLAAD7EgAA9gwAABAgAAAmAAAACAAAAP//////////"/>
              </a:ext>
            </a:extLst>
          </p:cNvSpPr>
          <p:nvPr/>
        </p:nvSpPr>
        <p:spPr>
          <a:xfrm>
            <a:off x="1310640" y="1864360"/>
            <a:ext cx="177482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планировалось 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14" name="Изображение5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AREgAAIBwAABUV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2936875"/>
            <a:ext cx="3498850" cy="4902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5" name="Кривая6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E0SAADGGwAAnhQAABAAAAAmAAAACAAAAP//////////"/>
              </a:ext>
            </a:extLst>
          </p:cNvSpPr>
          <p:nvPr/>
        </p:nvSpPr>
        <p:spPr>
          <a:xfrm>
            <a:off x="1130300" y="297497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639"/>
                </a:moveTo>
                <a:cubicBezTo>
                  <a:pt x="0" y="2807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479"/>
                  <a:pt x="3366193" y="18359"/>
                </a:cubicBezTo>
                <a:cubicBezTo>
                  <a:pt x="3378071" y="29879"/>
                  <a:pt x="3384550" y="46079"/>
                  <a:pt x="3384550" y="62639"/>
                </a:cubicBezTo>
                <a:lnTo>
                  <a:pt x="3384550" y="31355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555"/>
                </a:cubicBezTo>
                <a:lnTo>
                  <a:pt x="0" y="6263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6" name="Прямоугольник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AkPAACzEgAAiBAAABAgAAAmAAAACAAAAP//////////"/>
              </a:ext>
            </a:extLst>
          </p:cNvSpPr>
          <p:nvPr/>
        </p:nvSpPr>
        <p:spPr>
          <a:xfrm>
            <a:off x="1310640" y="2444115"/>
            <a:ext cx="1729105" cy="2432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Схемы/архитектура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7" name="Кривая7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KkIAAD1BgAAPAwAABAAAAAmAAAACAAAAP//////////"/>
              </a:ext>
            </a:extLst>
          </p:cNvSpPr>
          <p:nvPr/>
        </p:nvSpPr>
        <p:spPr>
          <a:xfrm>
            <a:off x="891540" y="1407795"/>
            <a:ext cx="239395" cy="581025"/>
          </a:xfrm>
          <a:custGeom>
            <a:avLst/>
            <a:gdLst/>
            <a:ahLst/>
            <a:cxnLst/>
            <a:rect l="0" t="0" r="239395" b="581025"/>
            <a:pathLst>
              <a:path w="239395" h="581025">
                <a:moveTo>
                  <a:pt x="239034" y="0"/>
                </a:moveTo>
                <a:lnTo>
                  <a:pt x="0" y="0"/>
                </a:lnTo>
                <a:lnTo>
                  <a:pt x="0" y="581025"/>
                </a:lnTo>
                <a:lnTo>
                  <a:pt x="239395" y="581025"/>
                </a:lnTo>
                <a:lnTo>
                  <a:pt x="239395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8" name="Кривая8"/>
          <p:cNvSpPr>
            <a:extLst>
              <a:ext uri="smNativeData">
                <pr:smNativeData xmlns:pr="smNativeData" xmlns="smNativeData" val="SMDATA_15_nmqoaBMAAAAlAAAACwAAAA0AAAAABwAAAAcAAAAHAAAABw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JhX8wAPAAAAAQAAACMAAAAjAAAAIwAAAB4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JhX8wB/f38A////A8zMzADAwP8Af39/AAAAAAAAAAAAAAAAAAAAAAAAAAAAIQAAABgAAAAUAAAAfAUAAKkIAAD1BgAAPAwAABAAAAAmAAAACAAAAP//////////"/>
              </a:ext>
            </a:extLst>
          </p:cNvSpPr>
          <p:nvPr/>
        </p:nvSpPr>
        <p:spPr>
          <a:xfrm>
            <a:off x="891540" y="1407795"/>
            <a:ext cx="239395" cy="581025"/>
          </a:xfrm>
          <a:custGeom>
            <a:avLst/>
            <a:gdLst/>
            <a:ahLst/>
            <a:cxnLst/>
            <a:rect l="0" t="0" r="239395" b="581025"/>
            <a:pathLst>
              <a:path w="239395" h="581025" fill="none">
                <a:moveTo>
                  <a:pt x="239034" y="0"/>
                </a:moveTo>
                <a:lnTo>
                  <a:pt x="0" y="0"/>
                </a:lnTo>
                <a:lnTo>
                  <a:pt x="0" y="581025"/>
                </a:lnTo>
                <a:lnTo>
                  <a:pt x="239395" y="581025"/>
                </a:lnTo>
              </a:path>
            </a:pathLst>
          </a:custGeom>
          <a:noFill/>
          <a:ln w="9525" cap="flat" cmpd="sng" algn="ctr">
            <a:solidFill>
              <a:srgbClr val="9857F3"/>
            </a:solidFill>
            <a:prstDash val="solid"/>
            <a:headEnd type="none"/>
            <a:tailEnd type="none"/>
          </a:ln>
          <a:effectLst/>
        </p:spPr>
        <p:txBody>
          <a:bodyPr vert="horz" wrap="square" lIns="4445" tIns="4445" rIns="4445" bIns="4445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9" name="Кривая9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DsMAAD1BgAAzg8AABAAAAAmAAAACAAAAP//////////"/>
              </a:ext>
            </a:extLst>
          </p:cNvSpPr>
          <p:nvPr/>
        </p:nvSpPr>
        <p:spPr>
          <a:xfrm>
            <a:off x="891540" y="1988185"/>
            <a:ext cx="239395" cy="581025"/>
          </a:xfrm>
          <a:custGeom>
            <a:avLst/>
            <a:gdLst/>
            <a:ahLst/>
            <a:cxnLst/>
            <a:rect l="0" t="0" r="239395" b="581025"/>
            <a:pathLst>
              <a:path w="239395" h="581025">
                <a:moveTo>
                  <a:pt x="239034" y="0"/>
                </a:moveTo>
                <a:lnTo>
                  <a:pt x="0" y="0"/>
                </a:lnTo>
                <a:lnTo>
                  <a:pt x="0" y="581025"/>
                </a:lnTo>
                <a:lnTo>
                  <a:pt x="239395" y="581025"/>
                </a:lnTo>
                <a:lnTo>
                  <a:pt x="239395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0" name="Кривая10"/>
          <p:cNvSpPr>
            <a:extLst>
              <a:ext uri="smNativeData">
                <pr:smNativeData xmlns:pr="smNativeData" xmlns="smNativeData" val="SMDATA_15_nmqoaBMAAAAlAAAACwAAAA0AAAAABwAAAAcAAAAHAAAABw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JhX8wAPAAAAAQAAACMAAAAjAAAAIwAAAB4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JhX8wB/f38A////A8zMzADAwP8Af39/AAAAAAAAAAAAAAAAAAAAAAAAAAAAIQAAABgAAAAUAAAAfAUAADsMAAD1BgAAzg8AABAAAAAmAAAACAAAAP//////////"/>
              </a:ext>
            </a:extLst>
          </p:cNvSpPr>
          <p:nvPr/>
        </p:nvSpPr>
        <p:spPr>
          <a:xfrm>
            <a:off x="891540" y="1988185"/>
            <a:ext cx="239395" cy="581025"/>
          </a:xfrm>
          <a:custGeom>
            <a:avLst/>
            <a:gdLst/>
            <a:ahLst/>
            <a:cxnLst/>
            <a:rect l="0" t="0" r="239395" b="581025"/>
            <a:pathLst>
              <a:path w="239395" h="581025" fill="none">
                <a:moveTo>
                  <a:pt x="239034" y="0"/>
                </a:moveTo>
                <a:lnTo>
                  <a:pt x="0" y="0"/>
                </a:lnTo>
                <a:lnTo>
                  <a:pt x="0" y="581025"/>
                </a:lnTo>
                <a:lnTo>
                  <a:pt x="239395" y="581025"/>
                </a:lnTo>
              </a:path>
            </a:pathLst>
          </a:custGeom>
          <a:noFill/>
          <a:ln w="9525" cap="flat" cmpd="sng" algn="ctr">
            <a:solidFill>
              <a:srgbClr val="9857F3"/>
            </a:solidFill>
            <a:prstDash val="solid"/>
            <a:headEnd type="none"/>
            <a:tailEnd type="none"/>
          </a:ln>
          <a:effectLst/>
        </p:spPr>
        <p:txBody>
          <a:bodyPr vert="horz" wrap="square" lIns="4445" tIns="4445" rIns="4445" bIns="4445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1" name="Кривая1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M0PAAD1BgAAdhMAABAAAAAmAAAACAAAAP//////////"/>
              </a:ext>
            </a:extLst>
          </p:cNvSpPr>
          <p:nvPr/>
        </p:nvSpPr>
        <p:spPr>
          <a:xfrm>
            <a:off x="891540" y="2568575"/>
            <a:ext cx="239395" cy="594995"/>
          </a:xfrm>
          <a:custGeom>
            <a:avLst/>
            <a:gdLst/>
            <a:ahLst/>
            <a:cxnLst/>
            <a:rect l="0" t="0" r="239395" b="594995"/>
            <a:pathLst>
              <a:path w="239395" h="594995">
                <a:moveTo>
                  <a:pt x="239034" y="0"/>
                </a:moveTo>
                <a:lnTo>
                  <a:pt x="0" y="0"/>
                </a:lnTo>
                <a:lnTo>
                  <a:pt x="0" y="594995"/>
                </a:lnTo>
                <a:lnTo>
                  <a:pt x="239395" y="594995"/>
                </a:lnTo>
                <a:lnTo>
                  <a:pt x="239395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2" name="Кривая12"/>
          <p:cNvSpPr>
            <a:extLst>
              <a:ext uri="smNativeData">
                <pr:smNativeData xmlns:pr="smNativeData" xmlns="smNativeData" val="SMDATA_15_nmqoaBMAAAAlAAAACwAAAA0AAAAABwAAAAcAAAAHAAAABw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JhX8wAPAAAAAQAAACMAAAAjAAAAIwAAAB4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JhX8wB/f38A////A8zMzADAwP8Af39/AAAAAAAAAAAAAAAAAAAAAAAAAAAAIQAAABgAAAAUAAAAfAUAAM0PAAD1BgAAdhMAABAAAAAmAAAACAAAAP//////////"/>
              </a:ext>
            </a:extLst>
          </p:cNvSpPr>
          <p:nvPr/>
        </p:nvSpPr>
        <p:spPr>
          <a:xfrm>
            <a:off x="891540" y="2568575"/>
            <a:ext cx="239395" cy="594995"/>
          </a:xfrm>
          <a:custGeom>
            <a:avLst/>
            <a:gdLst/>
            <a:ahLst/>
            <a:cxnLst/>
            <a:rect l="0" t="0" r="239395" b="594995"/>
            <a:pathLst>
              <a:path w="239395" h="594995" fill="none">
                <a:moveTo>
                  <a:pt x="239034" y="0"/>
                </a:moveTo>
                <a:lnTo>
                  <a:pt x="0" y="0"/>
                </a:lnTo>
                <a:lnTo>
                  <a:pt x="0" y="594995"/>
                </a:lnTo>
                <a:lnTo>
                  <a:pt x="239395" y="594995"/>
                </a:lnTo>
              </a:path>
            </a:pathLst>
          </a:custGeom>
          <a:noFill/>
          <a:ln w="9525" cap="flat" cmpd="sng" algn="ctr">
            <a:solidFill>
              <a:srgbClr val="9857F3"/>
            </a:solidFill>
            <a:prstDash val="solid"/>
            <a:headEnd type="none"/>
            <a:tailEnd type="none"/>
          </a:ln>
          <a:effectLst/>
        </p:spPr>
        <p:txBody>
          <a:bodyPr vert="horz" wrap="square" lIns="4445" tIns="4445" rIns="4445" bIns="4445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3" name="Кривая1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HUTAAD1BgAAsxYAABAAAAAmAAAACAAAAP//////////"/>
              </a:ext>
            </a:extLst>
          </p:cNvSpPr>
          <p:nvPr/>
        </p:nvSpPr>
        <p:spPr>
          <a:xfrm>
            <a:off x="891540" y="3162935"/>
            <a:ext cx="239395" cy="527050"/>
          </a:xfrm>
          <a:custGeom>
            <a:avLst/>
            <a:gdLst/>
            <a:ahLst/>
            <a:cxnLst/>
            <a:rect l="0" t="0" r="239395" b="527050"/>
            <a:pathLst>
              <a:path w="239395" h="527050">
                <a:moveTo>
                  <a:pt x="239034" y="0"/>
                </a:moveTo>
                <a:lnTo>
                  <a:pt x="0" y="0"/>
                </a:lnTo>
                <a:lnTo>
                  <a:pt x="0" y="527050"/>
                </a:lnTo>
                <a:lnTo>
                  <a:pt x="239395" y="527050"/>
                </a:lnTo>
                <a:lnTo>
                  <a:pt x="239395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4" name="Кривая14"/>
          <p:cNvSpPr>
            <a:extLst>
              <a:ext uri="smNativeData">
                <pr:smNativeData xmlns:pr="smNativeData" xmlns="smNativeData" val="SMDATA_15_nmqoaBMAAAAlAAAACwAAAA0AAAAABwAAAAcAAAAHAAAABw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JhX8wAPAAAAAQAAACMAAAAjAAAAIwAAAB4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JhX8wB/f38A////A8zMzADAwP8Af39/AAAAAAAAAAAAAAAAAAAAAAAAAAAAIQAAABgAAAAUAAAAfAUAAHUTAAD1BgAAsxYAABAAAAAmAAAACAAAAP//////////"/>
              </a:ext>
            </a:extLst>
          </p:cNvSpPr>
          <p:nvPr/>
        </p:nvSpPr>
        <p:spPr>
          <a:xfrm>
            <a:off x="891540" y="3162935"/>
            <a:ext cx="239395" cy="527050"/>
          </a:xfrm>
          <a:custGeom>
            <a:avLst/>
            <a:gdLst/>
            <a:ahLst/>
            <a:cxnLst/>
            <a:rect l="0" t="0" r="239395" b="527050"/>
            <a:pathLst>
              <a:path w="239395" h="527050" fill="none">
                <a:moveTo>
                  <a:pt x="239034" y="0"/>
                </a:moveTo>
                <a:lnTo>
                  <a:pt x="0" y="0"/>
                </a:lnTo>
                <a:lnTo>
                  <a:pt x="0" y="527050"/>
                </a:lnTo>
                <a:lnTo>
                  <a:pt x="239395" y="527050"/>
                </a:lnTo>
              </a:path>
            </a:pathLst>
          </a:custGeom>
          <a:noFill/>
          <a:ln w="9525" cap="flat" cmpd="sng" algn="ctr">
            <a:solidFill>
              <a:srgbClr val="9857F3"/>
            </a:solidFill>
            <a:prstDash val="solid"/>
            <a:headEnd type="none"/>
            <a:tailEnd type="none"/>
          </a:ln>
          <a:effectLst/>
        </p:spPr>
        <p:txBody>
          <a:bodyPr vert="horz" wrap="square" lIns="4445" tIns="4445" rIns="4445" bIns="4445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25" name="Изображение6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BOFQAAIBwAAFMY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3463290"/>
            <a:ext cx="3498850" cy="49085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6" name="Кривая15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IsVAADGGwAA3BcAABAAAAAmAAAACAAAAP//////////"/>
              </a:ext>
            </a:extLst>
          </p:cNvSpPr>
          <p:nvPr/>
        </p:nvSpPr>
        <p:spPr>
          <a:xfrm>
            <a:off x="1130300" y="350202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639"/>
                </a:moveTo>
                <a:cubicBezTo>
                  <a:pt x="0" y="2807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479"/>
                  <a:pt x="3366193" y="18359"/>
                </a:cubicBezTo>
                <a:cubicBezTo>
                  <a:pt x="3378071" y="29879"/>
                  <a:pt x="3384550" y="46079"/>
                  <a:pt x="3384550" y="62639"/>
                </a:cubicBezTo>
                <a:lnTo>
                  <a:pt x="3384550" y="31355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555"/>
                </a:cubicBezTo>
                <a:lnTo>
                  <a:pt x="0" y="6263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27" name="Прямоугольник5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LISAACgFgAAMBQAABAgAAAmAAAACAAAAP//////////"/>
              </a:ext>
            </a:extLst>
          </p:cNvSpPr>
          <p:nvPr/>
        </p:nvSpPr>
        <p:spPr>
          <a:xfrm>
            <a:off x="1310640" y="3039110"/>
            <a:ext cx="2367280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Используемые технологии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28" name="Изображение7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JoGAACMGAAAIBwAAJAb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3990340"/>
            <a:ext cx="3498850" cy="4902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9" name="Кривая16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9AYAAMcYAADGGwAAGBsAABAAAAAmAAAACAAAAP//////////"/>
              </a:ext>
            </a:extLst>
          </p:cNvSpPr>
          <p:nvPr/>
        </p:nvSpPr>
        <p:spPr>
          <a:xfrm>
            <a:off x="1130300" y="4027805"/>
            <a:ext cx="3384550" cy="376555"/>
          </a:xfrm>
          <a:custGeom>
            <a:avLst/>
            <a:gdLst/>
            <a:ahLst/>
            <a:cxnLst/>
            <a:rect l="0" t="0" r="3384550" b="376555"/>
            <a:pathLst>
              <a:path w="3384550" h="376555">
                <a:moveTo>
                  <a:pt x="0" y="62999"/>
                </a:moveTo>
                <a:cubicBezTo>
                  <a:pt x="0" y="28079"/>
                  <a:pt x="28076" y="0"/>
                  <a:pt x="62630" y="0"/>
                </a:cubicBezTo>
                <a:lnTo>
                  <a:pt x="3321920" y="0"/>
                </a:lnTo>
                <a:cubicBezTo>
                  <a:pt x="3338477" y="0"/>
                  <a:pt x="3354675" y="6839"/>
                  <a:pt x="3366193" y="18359"/>
                </a:cubicBezTo>
                <a:cubicBezTo>
                  <a:pt x="3378071" y="30239"/>
                  <a:pt x="3384550" y="46079"/>
                  <a:pt x="3384550" y="62999"/>
                </a:cubicBezTo>
                <a:lnTo>
                  <a:pt x="3384550" y="313915"/>
                </a:lnTo>
                <a:cubicBezTo>
                  <a:pt x="3384550" y="348475"/>
                  <a:pt x="3356474" y="376555"/>
                  <a:pt x="3321920" y="376555"/>
                </a:cubicBezTo>
                <a:lnTo>
                  <a:pt x="62630" y="376555"/>
                </a:lnTo>
                <a:cubicBezTo>
                  <a:pt x="28076" y="376555"/>
                  <a:pt x="0" y="348475"/>
                  <a:pt x="0" y="313915"/>
                </a:cubicBezTo>
                <a:lnTo>
                  <a:pt x="0" y="6299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30" name="Прямоугольник6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O8VAACxEAAAbhcAABAgAAAmAAAACAAAAP//////////"/>
              </a:ext>
            </a:extLst>
          </p:cNvSpPr>
          <p:nvPr/>
        </p:nvSpPr>
        <p:spPr>
          <a:xfrm>
            <a:off x="1310640" y="3565525"/>
            <a:ext cx="1402715" cy="2432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31" name="Кривая17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UAALIWAAD1BgAA8RkAABAAAAAmAAAACAAAAP//////////"/>
              </a:ext>
            </a:extLst>
          </p:cNvSpPr>
          <p:nvPr/>
        </p:nvSpPr>
        <p:spPr>
          <a:xfrm>
            <a:off x="891540" y="3689350"/>
            <a:ext cx="239395" cy="527685"/>
          </a:xfrm>
          <a:custGeom>
            <a:avLst/>
            <a:gdLst/>
            <a:ahLst/>
            <a:cxnLst/>
            <a:rect l="0" t="0" r="239395" b="527685"/>
            <a:pathLst>
              <a:path w="239395" h="527685">
                <a:moveTo>
                  <a:pt x="239034" y="0"/>
                </a:moveTo>
                <a:lnTo>
                  <a:pt x="0" y="0"/>
                </a:lnTo>
                <a:lnTo>
                  <a:pt x="0" y="527685"/>
                </a:lnTo>
                <a:lnTo>
                  <a:pt x="239395" y="527685"/>
                </a:lnTo>
                <a:lnTo>
                  <a:pt x="239395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32" name="Кривая18"/>
          <p:cNvSpPr>
            <a:extLst>
              <a:ext uri="smNativeData">
                <pr:smNativeData xmlns:pr="smNativeData" xmlns="smNativeData" val="SMDATA_15_nmqoaBMAAAAlAAAACwAAAA0AAAAABwAAAAcAAAAHAAAABw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JhX8wAPAAAAAQAAACMAAAAjAAAAIwAAAB4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JhX8wB/f38A////A8zMzADAwP8Af39/AAAAAAAAAAAAAAAAAAAAAAAAAAAAIQAAABgAAAAUAAAAfAUAALIWAAD1BgAA8RkAABAAAAAmAAAACAAAAP//////////"/>
              </a:ext>
            </a:extLst>
          </p:cNvSpPr>
          <p:nvPr/>
        </p:nvSpPr>
        <p:spPr>
          <a:xfrm>
            <a:off x="891540" y="3689350"/>
            <a:ext cx="239395" cy="527685"/>
          </a:xfrm>
          <a:custGeom>
            <a:avLst/>
            <a:gdLst/>
            <a:ahLst/>
            <a:cxnLst/>
            <a:rect l="0" t="0" r="239395" b="527685"/>
            <a:pathLst>
              <a:path w="239395" h="527685" fill="none">
                <a:moveTo>
                  <a:pt x="239034" y="0"/>
                </a:moveTo>
                <a:lnTo>
                  <a:pt x="0" y="0"/>
                </a:lnTo>
                <a:lnTo>
                  <a:pt x="0" y="527685"/>
                </a:lnTo>
                <a:lnTo>
                  <a:pt x="239395" y="527685"/>
                </a:lnTo>
              </a:path>
            </a:pathLst>
          </a:custGeom>
          <a:noFill/>
          <a:ln w="9525" cap="flat" cmpd="sng" algn="ctr">
            <a:solidFill>
              <a:srgbClr val="9857F3"/>
            </a:solidFill>
            <a:prstDash val="solid"/>
            <a:headEnd type="none"/>
            <a:tailEnd type="none"/>
          </a:ln>
          <a:effectLst/>
        </p:spPr>
        <p:txBody>
          <a:bodyPr vert="horz" wrap="square" lIns="4445" tIns="4445" rIns="4445" bIns="4445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33" name="Прямоугольник7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gAAC0ZAABqDAAAqxoAABAgAAAmAAAACAAAAP//////////"/>
              </a:ext>
            </a:extLst>
          </p:cNvSpPr>
          <p:nvPr/>
        </p:nvSpPr>
        <p:spPr>
          <a:xfrm>
            <a:off x="1310640" y="4092575"/>
            <a:ext cx="707390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Выводы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gMAAP8BAADdNwAACQoAABAAAAAmAAAACAAAAP//////////"/>
              </a:ext>
            </a:extLst>
          </p:cNvSpPr>
          <p:nvPr/>
        </p:nvSpPr>
        <p:spPr>
          <a:xfrm>
            <a:off x="560070" y="324485"/>
            <a:ext cx="8521065" cy="1306830"/>
          </a:xfrm>
          <a:custGeom>
            <a:avLst/>
            <a:gdLst/>
            <a:ahLst/>
            <a:cxnLst/>
            <a:rect l="0" t="0" r="8521065" b="1306830"/>
            <a:pathLst>
              <a:path w="8521065" h="1306830">
                <a:moveTo>
                  <a:pt x="0" y="0"/>
                </a:moveTo>
                <a:lnTo>
                  <a:pt x="8521065" y="0"/>
                </a:lnTo>
                <a:lnTo>
                  <a:pt x="8521065" y="1306830"/>
                </a:lnTo>
                <a:lnTo>
                  <a:pt x="0" y="130683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+gMAAEUCAAAEFQAAdQUAABAgAAAmAAAACAAAAP//////////"/>
              </a:ext>
            </a:extLst>
          </p:cNvSpPr>
          <p:nvPr/>
        </p:nvSpPr>
        <p:spPr>
          <a:xfrm>
            <a:off x="646430" y="368935"/>
            <a:ext cx="2769870" cy="518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Цели проекта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AwPAABHCAAAvxAAABAgAAAmAAAACAAAAP//////////"/>
              </a:ext>
            </a:extLst>
          </p:cNvSpPr>
          <p:nvPr/>
        </p:nvSpPr>
        <p:spPr>
          <a:xfrm>
            <a:off x="1143000" y="2446020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1.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woAABAPAACUMwAAjhAAAAAgAAAmAAAACAAAAP//////////"/>
              </a:ext>
            </a:extLst>
          </p:cNvSpPr>
          <p:nvPr/>
        </p:nvSpPr>
        <p:spPr>
          <a:xfrm>
            <a:off x="1632585" y="2448560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Разработать  транспортный, логический и фреймворк модули системы,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а также модуль хранения данных </a:t>
            </a:r>
          </a:p>
        </p:txBody>
      </p:sp>
      <p:sp>
        <p:nvSpPr>
          <p:cNvPr id="8" name="Прямоугольник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KwRAABHCAAAXhMAABAgAAAmAAAACAAAAP//////////"/>
              </a:ext>
            </a:extLst>
          </p:cNvSpPr>
          <p:nvPr/>
        </p:nvSpPr>
        <p:spPr>
          <a:xfrm>
            <a:off x="1143000" y="2872740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2.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9" name="Прямоугольник5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F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woAALARAAB8IQAALhMAAAAgAAAmAAAACAAAAP//////////"/>
              </a:ext>
            </a:extLst>
          </p:cNvSpPr>
          <p:nvPr/>
        </p:nvSpPr>
        <p:spPr>
          <a:xfrm>
            <a:off x="1632585" y="2875280"/>
            <a:ext cx="381063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Познакомиться с современными методами логирования и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визуализации данных приложения в виде дашбордов</a:t>
            </a:r>
          </a:p>
        </p:txBody>
      </p:sp>
      <p:sp>
        <p:nvSpPr>
          <p:cNvPr id="10" name="Прямоугольник6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EsUAABHCAAA/hUAABAgAAAmAAAACAAAAP//////////"/>
              </a:ext>
            </a:extLst>
          </p:cNvSpPr>
          <p:nvPr/>
        </p:nvSpPr>
        <p:spPr>
          <a:xfrm>
            <a:off x="1143000" y="3298825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3.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1" name="Прямоугольник7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woAAFAUAAC9JAAAzhUAAAAgAAAmAAAACAAAAP//////////"/>
              </a:ext>
            </a:extLst>
          </p:cNvSpPr>
          <p:nvPr/>
        </p:nvSpPr>
        <p:spPr>
          <a:xfrm>
            <a:off x="1632585" y="3302000"/>
            <a:ext cx="4339590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Использовать в проекте библиотеки машинного обучения и DataScience</a:t>
            </a:r>
          </a:p>
        </p:txBody>
      </p:sp>
      <p:sp>
        <p:nvSpPr>
          <p:cNvPr id="12" name="Прямоугольник8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OsWAABHCAAAnhgAABAgAAAmAAAACAAAAP//////////"/>
              </a:ext>
            </a:extLst>
          </p:cNvSpPr>
          <p:nvPr/>
        </p:nvSpPr>
        <p:spPr>
          <a:xfrm>
            <a:off x="1143000" y="3725545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4.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13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QQBs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LYJAABLCAAAwzIAAK8N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578610" y="1348105"/>
            <a:ext cx="6673215" cy="8763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4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EAAAAAAAAA7u7u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7u7uAP///wEAAAAAAAAAAAAAAAAAAAAAAAAAAAAAAAAAAAAAAAAAAAAAAAJ/f38A////A8zMzADAwP8Af39/AAAAAAAAAAAAAAAAAAAAAAAAAAAAIQAAABgAAAAUAAAAJwoAAIcIAABSMgAArw0AABAAAAAmAAAACAAAAP//////////"/>
              </a:ext>
            </a:extLst>
          </p:cNvSpPr>
          <p:nvPr/>
        </p:nvSpPr>
        <p:spPr>
          <a:xfrm>
            <a:off x="1650365" y="1386205"/>
            <a:ext cx="6529705" cy="838200"/>
          </a:xfrm>
          <a:custGeom>
            <a:avLst/>
            <a:gdLst/>
            <a:ahLst/>
            <a:cxnLst/>
            <a:rect l="0" t="0" r="6529705" b="838200"/>
            <a:pathLst>
              <a:path w="6529705" h="838200">
                <a:moveTo>
                  <a:pt x="0" y="139852"/>
                </a:moveTo>
                <a:cubicBezTo>
                  <a:pt x="0" y="62865"/>
                  <a:pt x="55092" y="0"/>
                  <a:pt x="122561" y="0"/>
                </a:cubicBezTo>
                <a:lnTo>
                  <a:pt x="6407143" y="0"/>
                </a:lnTo>
                <a:cubicBezTo>
                  <a:pt x="6439480" y="0"/>
                  <a:pt x="6470619" y="15033"/>
                  <a:pt x="6493774" y="40999"/>
                </a:cubicBezTo>
                <a:cubicBezTo>
                  <a:pt x="6516530" y="67420"/>
                  <a:pt x="6529705" y="102953"/>
                  <a:pt x="6529705" y="139852"/>
                </a:cubicBezTo>
                <a:lnTo>
                  <a:pt x="6529705" y="698804"/>
                </a:lnTo>
                <a:cubicBezTo>
                  <a:pt x="6529705" y="775791"/>
                  <a:pt x="6474612" y="838200"/>
                  <a:pt x="6407143" y="838200"/>
                </a:cubicBezTo>
                <a:lnTo>
                  <a:pt x="122561" y="838200"/>
                </a:lnTo>
                <a:cubicBezTo>
                  <a:pt x="55092" y="838200"/>
                  <a:pt x="0" y="775791"/>
                  <a:pt x="0" y="698804"/>
                </a:cubicBezTo>
                <a:lnTo>
                  <a:pt x="0" y="139852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5" name="Прямоугольник9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DAoAAPAWAACOMAAAuBgAAAAAAAAmAAAACAAAAP//////////"/>
              </a:ext>
            </a:extLst>
          </p:cNvSpPr>
          <p:nvPr/>
        </p:nvSpPr>
        <p:spPr>
          <a:xfrm>
            <a:off x="1633220" y="3728720"/>
            <a:ext cx="6259830" cy="2895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Познакомиться с  библиотеками и тенденциями Kotlin-экосистемы</a:t>
            </a:r>
          </a:p>
        </p:txBody>
      </p:sp>
      <p:sp>
        <p:nvSpPr>
          <p:cNvPr id="16" name="Прямоугольник10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gsAAAgJAABtLgAAowoAAAAgAAAmAAAACAAAAP//////////"/>
              </a:ext>
            </a:extLst>
          </p:cNvSpPr>
          <p:nvPr/>
        </p:nvSpPr>
        <p:spPr>
          <a:xfrm>
            <a:off x="1822450" y="1468120"/>
            <a:ext cx="5724525" cy="2609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5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Цель проекта: разработать мультиплатформенную </a:t>
            </a:r>
            <a:endParaRPr lang="en-us" sz="1500" cap="none">
              <a:solidFill>
                <a:srgbClr val="000000"/>
              </a:solidFill>
              <a:latin typeface="Roboto" pitchFamily="0" charset="0"/>
              <a:ea typeface="Roboto" pitchFamily="0" charset="0"/>
              <a:cs typeface="DejaVu Sans" pitchFamily="0" charset="0"/>
            </a:endParaRPr>
          </a:p>
          <a:p>
            <a:pPr/>
            <a:r>
              <a:rPr lang="en-us" sz="15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бэкэнд систему на Kotlin с возможностью формирования и</a:t>
            </a:r>
            <a:endParaRPr lang="en-us" sz="1500" cap="none">
              <a:solidFill>
                <a:srgbClr val="000000"/>
              </a:solidFill>
              <a:latin typeface="Roboto" pitchFamily="0" charset="0"/>
              <a:ea typeface="Roboto" pitchFamily="0" charset="0"/>
              <a:cs typeface="DejaVu Sans" pitchFamily="0" charset="0"/>
            </a:endParaRPr>
          </a:p>
          <a:p>
            <a:pPr/>
            <a:r>
              <a:rPr lang="en-us" sz="15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хранения с помощью нее моделей машинного обучения</a:t>
            </a:r>
            <a:endParaRPr lang="en-us" sz="1500" cap="none">
              <a:solidFill>
                <a:srgbClr val="000000"/>
              </a:solidFill>
              <a:latin typeface="Roboto" pitchFamily="0" charset="0"/>
              <a:ea typeface="Roboto" pitchFamily="0" charset="0"/>
              <a:cs typeface="DejaVu Sans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DNGwAAfwUAABAgAAAmAAAACAAAAP//////////"/>
              </a:ext>
            </a:extLst>
          </p:cNvSpPr>
          <p:nvPr/>
        </p:nvSpPr>
        <p:spPr>
          <a:xfrm>
            <a:off x="586740" y="374650"/>
            <a:ext cx="3932555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планировалось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Прямоугольник6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piMAADAMAACVJAAAdw0AABAgAAAmAAAACAAAAP//////////"/>
              </a:ext>
            </a:extLst>
          </p:cNvSpPr>
          <p:nvPr/>
        </p:nvSpPr>
        <p:spPr>
          <a:xfrm>
            <a:off x="5795010" y="1981200"/>
            <a:ext cx="151765" cy="2076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2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-</a:t>
            </a:r>
            <a:endParaRPr lang="en-us" sz="12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Прямоугольник8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piMAAFANAACVJAAAlw4AABAgAAAmAAAACAAAAP//////////"/>
              </a:ext>
            </a:extLst>
          </p:cNvSpPr>
          <p:nvPr/>
        </p:nvSpPr>
        <p:spPr>
          <a:xfrm>
            <a:off x="5795010" y="2164080"/>
            <a:ext cx="151765" cy="2076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2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-</a:t>
            </a:r>
            <a:endParaRPr lang="en-us" sz="12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Прямоугольник10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BEMAABHCAAAww0AABAgAAAmAAAACAAAAP//////////"/>
              </a:ext>
            </a:extLst>
          </p:cNvSpPr>
          <p:nvPr/>
        </p:nvSpPr>
        <p:spPr>
          <a:xfrm>
            <a:off x="1143000" y="1961515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1.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9" name="Прямоугольник1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LAOAABHCAAAYxAAABAgAAAmAAAACAAAAP//////////"/>
              </a:ext>
            </a:extLst>
          </p:cNvSpPr>
          <p:nvPr/>
        </p:nvSpPr>
        <p:spPr>
          <a:xfrm>
            <a:off x="1143000" y="2387600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2.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Прямоугольник1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FERAABHCAAABBMAABAgAAAmAAAACAAAAP//////////"/>
              </a:ext>
            </a:extLst>
          </p:cNvSpPr>
          <p:nvPr/>
        </p:nvSpPr>
        <p:spPr>
          <a:xfrm>
            <a:off x="1143000" y="2814955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3</a:t>
            </a:r>
            <a:r>
              <a:rPr lang="en-us" sz="16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1" name="Прямоугольник1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PETAABHCAAAoxUAABAgAAAmAAAACAAAAP//////////"/>
              </a:ext>
            </a:extLst>
          </p:cNvSpPr>
          <p:nvPr/>
        </p:nvSpPr>
        <p:spPr>
          <a:xfrm>
            <a:off x="1143000" y="3241675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4.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2" name="Прямоугольник1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1AgAADEMAABdMgAArw0AAAAgAAAmAAAACAAAAP//////////"/>
              </a:ext>
            </a:extLst>
          </p:cNvSpPr>
          <p:nvPr/>
        </p:nvSpPr>
        <p:spPr>
          <a:xfrm>
            <a:off x="1435100" y="198183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Разработать систему для проверки результатов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обучения модели с переданными параметрами  </a:t>
            </a:r>
          </a:p>
        </p:txBody>
      </p:sp>
      <p:sp>
        <p:nvSpPr>
          <p:cNvPr id="13" name="Прямоугольник15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QgAANcOAABSMgAAVRAAAAAgAAAmAAAACAAAAP//////////"/>
              </a:ext>
            </a:extLst>
          </p:cNvSpPr>
          <p:nvPr/>
        </p:nvSpPr>
        <p:spPr>
          <a:xfrm>
            <a:off x="1428115" y="241236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Возможность проверки одновременно большого количества моделей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 с разными параметрами</a:t>
            </a:r>
          </a:p>
        </p:txBody>
      </p:sp>
      <p:sp>
        <p:nvSpPr>
          <p:cNvPr id="14" name="Прямоугольник16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QgAAH0RAABSMgAA+xIAAAAgAAAmAAAACAAAAP//////////"/>
              </a:ext>
            </a:extLst>
          </p:cNvSpPr>
          <p:nvPr/>
        </p:nvSpPr>
        <p:spPr>
          <a:xfrm>
            <a:off x="1428115" y="284289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Возможность выбора лучшей модели</a:t>
            </a:r>
            <a:r>
              <a:rPr lang="en-us" sz="1400" cap="none">
                <a:solidFill>
                  <a:srgbClr val="000000"/>
                </a:solidFill>
                <a:latin typeface="Times New Roman" pitchFamily="1" charset="-52"/>
                <a:ea typeface="DejaVu Sans" pitchFamily="0" charset="0"/>
                <a:cs typeface="DejaVu Sans" pitchFamily="0" charset="0"/>
              </a:rPr>
              <a:t> </a:t>
            </a:r>
            <a:endParaRPr lang="en-us" sz="1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5" name="Прямоугольник17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QgAACMUAABSMgAAoRUAAAAgAAAmAAAACAAAAP//////////"/>
              </a:ext>
            </a:extLst>
          </p:cNvSpPr>
          <p:nvPr/>
        </p:nvSpPr>
        <p:spPr>
          <a:xfrm>
            <a:off x="1428115" y="327342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Возможность генерации данных рандомно по заданному шаблону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hHAAAfwUAABAgAAAmAAAACAAAAP//////////"/>
              </a:ext>
            </a:extLst>
          </p:cNvSpPr>
          <p:nvPr/>
        </p:nvSpPr>
        <p:spPr>
          <a:xfrm>
            <a:off x="586740" y="374650"/>
            <a:ext cx="4026535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Схемы/архитектура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6" name="Изображение2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OIAAAC9BQAAGzIAAIgdAAAA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" y="932815"/>
            <a:ext cx="8001635" cy="386778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Hlr0M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AoJQAAfwUAABAgAAAmAAAACAAAAP//////////"/>
              </a:ext>
            </a:extLst>
          </p:cNvSpPr>
          <p:nvPr/>
        </p:nvSpPr>
        <p:spPr>
          <a:xfrm>
            <a:off x="586740" y="374650"/>
            <a:ext cx="54533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Используемые технологии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Прямоугольник7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BEMAABHCAAAww0AABAgAAAmAAAACAAAAP//////////"/>
              </a:ext>
            </a:extLst>
          </p:cNvSpPr>
          <p:nvPr/>
        </p:nvSpPr>
        <p:spPr>
          <a:xfrm>
            <a:off x="1143000" y="1961515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1.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Прямоугольник8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LAOAABHCAAAYxAAABAgAAAmAAAACAAAAP//////////"/>
              </a:ext>
            </a:extLst>
          </p:cNvSpPr>
          <p:nvPr/>
        </p:nvSpPr>
        <p:spPr>
          <a:xfrm>
            <a:off x="1143000" y="2387600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2.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Прямоугольник9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FERAABHCAAABBMAABAgAAAmAAAACAAAAP//////////"/>
              </a:ext>
            </a:extLst>
          </p:cNvSpPr>
          <p:nvPr/>
        </p:nvSpPr>
        <p:spPr>
          <a:xfrm>
            <a:off x="1143000" y="2814955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3</a:t>
            </a:r>
            <a:r>
              <a:rPr lang="en-us" sz="16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9" name="Прямоугольник10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PETAABHCAAAoxUAABAgAAAmAAAACAAAAP//////////"/>
              </a:ext>
            </a:extLst>
          </p:cNvSpPr>
          <p:nvPr/>
        </p:nvSpPr>
        <p:spPr>
          <a:xfrm>
            <a:off x="1143000" y="3241675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4.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Прямоугольник1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wgAADEMAADsMQAArw0AAAAgAAAmAAAACAAAAP//////////"/>
              </a:ext>
            </a:extLst>
          </p:cNvSpPr>
          <p:nvPr/>
        </p:nvSpPr>
        <p:spPr>
          <a:xfrm>
            <a:off x="1363345" y="198183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Генерация моделей OpenApi,   kotlin kapt</a:t>
            </a:r>
          </a:p>
        </p:txBody>
      </p:sp>
      <p:sp>
        <p:nvSpPr>
          <p:cNvPr id="11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wgAANcOAADsMQAAVRAAAAAgAAAmAAAACAAAAP//////////"/>
              </a:ext>
            </a:extLst>
          </p:cNvSpPr>
          <p:nvPr/>
        </p:nvSpPr>
        <p:spPr>
          <a:xfrm>
            <a:off x="1363345" y="241236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Обработка запросов  Ktor</a:t>
            </a:r>
          </a:p>
        </p:txBody>
      </p:sp>
      <p:sp>
        <p:nvSpPr>
          <p:cNvPr id="12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WAgAAH0RAADhMQAA+xIAAAAgAAAmAAAACAAAAP//////////"/>
              </a:ext>
            </a:extLst>
          </p:cNvSpPr>
          <p:nvPr/>
        </p:nvSpPr>
        <p:spPr>
          <a:xfrm>
            <a:off x="1356360" y="284289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Логирование KermitLogger, FluentBit, OpenSearch, OpenDashboards</a:t>
            </a:r>
          </a:p>
        </p:txBody>
      </p:sp>
      <p:sp>
        <p:nvSpPr>
          <p:cNvPr id="13" name="Прямоугольник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wgAACMUAADsMQAAoRUAAAAgAAAmAAAACAAAAP//////////"/>
              </a:ext>
            </a:extLst>
          </p:cNvSpPr>
          <p:nvPr/>
        </p:nvSpPr>
        <p:spPr>
          <a:xfrm>
            <a:off x="1363345" y="327342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БД Cassandra</a:t>
            </a:r>
          </a:p>
        </p:txBody>
      </p:sp>
      <p:sp>
        <p:nvSpPr>
          <p:cNvPr id="14" name="Прямоугольник5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JAcAAJUWAABjCAAARxgAAAAAAAAmAAAACAAAAP//////////"/>
              </a:ext>
            </a:extLst>
          </p:cNvSpPr>
          <p:nvPr/>
        </p:nvSpPr>
        <p:spPr>
          <a:xfrm>
            <a:off x="1160780" y="3670935"/>
            <a:ext cx="202565" cy="275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5.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5" name="Прямоугольник6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WAgAAMkWAADhMQAARxgAAAAgAAAmAAAACAAAAP//////////"/>
              </a:ext>
            </a:extLst>
          </p:cNvSpPr>
          <p:nvPr/>
        </p:nvSpPr>
        <p:spPr>
          <a:xfrm>
            <a:off x="1356360" y="3703955"/>
            <a:ext cx="6751955" cy="2425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Приемочные тесты на kotest + test containers, unit-тесты на junit ,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mock тесты mockito-kotlin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UFwAAfwUAABAgAAAmAAAACAAAAP//////////"/>
              </a:ext>
            </a:extLst>
          </p:cNvSpPr>
          <p:nvPr/>
        </p:nvSpPr>
        <p:spPr>
          <a:xfrm>
            <a:off x="586740" y="374650"/>
            <a:ext cx="32054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6" name="Изображение3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BhOnBh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BcDAAAuBgAAxzUAABQWAAAA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502285" y="1004570"/>
            <a:ext cx="8239760" cy="25844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c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UFwAAfwUAABAgAAAmAAAACAAAAP//////////"/>
              </a:ext>
            </a:extLst>
          </p:cNvSpPr>
          <p:nvPr/>
        </p:nvSpPr>
        <p:spPr>
          <a:xfrm>
            <a:off x="586740" y="374650"/>
            <a:ext cx="32054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6" name="Изображение2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+PGE6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gDAABcBgAAZyYAAEIbAAAA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" y="1033780"/>
            <a:ext cx="5668645" cy="33972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UFwAAfwUAABAgAAAmAAAACAAAAP//////////"/>
              </a:ext>
            </a:extLst>
          </p:cNvSpPr>
          <p:nvPr/>
        </p:nvSpPr>
        <p:spPr>
          <a:xfrm>
            <a:off x="586740" y="374650"/>
            <a:ext cx="32054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6" name="Изображение3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gDAAAuBgAAtRsAAHUeAAAA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" y="1004570"/>
            <a:ext cx="3930015" cy="394652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UFwAAfwUAABAgAAAmAAAACAAAAP//////////"/>
              </a:ext>
            </a:extLst>
          </p:cNvSpPr>
          <p:nvPr/>
        </p:nvSpPr>
        <p:spPr>
          <a:xfrm>
            <a:off x="586740" y="374650"/>
            <a:ext cx="32054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6" name="Изображение3"/>
          <p:cNvPicPr>
            <a:picLocks noChangeAspect="1"/>
            <a:extLst>
              <a:ext uri="smNativeData">
                <pr:smNativeData xmlns:pr="smNativeData" xmlns="smNativeData" val="SMDATA_17_nmqoaBMAAAAlAAAAEQAAAC8B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Ay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gDAACZBgAArC8AAM8bAAAA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" y="1072515"/>
            <a:ext cx="7175500" cy="34480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BsZXhG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EAAAAAAAAAsD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71755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4CAABUFwAAfwUAABAgAAAmAAAACAAAAP//////////"/>
              </a:ext>
            </a:extLst>
          </p:cNvSpPr>
          <p:nvPr/>
        </p:nvSpPr>
        <p:spPr>
          <a:xfrm>
            <a:off x="586740" y="374650"/>
            <a:ext cx="3205480" cy="5187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0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Что получилось</a:t>
            </a:r>
            <a:endParaRPr lang="en-us" sz="3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ТекстСлайда1"/>
          <p:cNvSpPr>
            <a:extLst>
              <a:ext uri="smNativeData">
                <pr:smNativeData xmlns:pr="smNativeData" xmlns="smNativeData" val="SMDATA_15_nmqoaBMAAAAlAAAAZAAAAA0AAAAAkAAAAJAAAACQAAAAk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J8GAAB/NwAAxhAAAAAAAAAmAAAACAAAAP//////////"/>
              </a:ext>
            </a:extLst>
          </p:cNvSpPr>
          <p:nvPr/>
        </p:nvSpPr>
        <p:spPr>
          <a:xfrm>
            <a:off x="500380" y="1076325"/>
            <a:ext cx="8521065" cy="16503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91440" rIns="91440" bIns="91440" numCol="1" spcCol="215900" anchor="t"/>
          <a:lstStyle/>
          <a:p>
            <a:pPr marL="457200" indent="-336550">
              <a:lnSpc>
                <a:spcPct val="120000"/>
              </a:lnSpc>
              <a:spcBef>
                <a:spcPts val="300"/>
              </a:spcBef>
              <a:buSzPts val="1700"/>
              <a:buFont typeface="Roboto" pitchFamily="0" charset="0"/>
              <a:buChar char="●"/>
              <a:defRPr lang="ru-ru" sz="17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Ссылка на репозиторий с исходным кодом :</a:t>
            </a:r>
          </a:p>
          <a:p>
            <a:pPr marL="457200" indent="-336550">
              <a:lnSpc>
                <a:spcPct val="120000"/>
              </a:lnSpc>
              <a:spcBef>
                <a:spcPts val="300"/>
              </a:spcBef>
              <a:buSzPts val="1700"/>
              <a:buFont typeface="Roboto" pitchFamily="0" charset="0"/>
              <a:buChar char="●"/>
              <a:defRPr lang="ru-ru" sz="17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https://github.com/AlekseyFilatov/OTUS-Kotlin-Developer-hw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f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AMAAAgCAAB/NwAAxwgAABAAAAAmAAAACAAAAP//////////"/>
              </a:ext>
            </a:extLst>
          </p:cNvSpPr>
          <p:nvPr/>
        </p:nvSpPr>
        <p:spPr>
          <a:xfrm>
            <a:off x="500380" y="330200"/>
            <a:ext cx="8521065" cy="1096645"/>
          </a:xfrm>
          <a:custGeom>
            <a:avLst/>
            <a:gdLst/>
            <a:ahLst/>
            <a:cxnLst/>
            <a:rect l="0" t="0" r="8521065" b="1096645"/>
            <a:pathLst>
              <a:path w="8521065" h="1096645">
                <a:moveTo>
                  <a:pt x="0" y="0"/>
                </a:moveTo>
                <a:lnTo>
                  <a:pt x="8521065" y="0"/>
                </a:lnTo>
                <a:lnTo>
                  <a:pt x="8521065" y="1096645"/>
                </a:lnTo>
                <a:lnTo>
                  <a:pt x="0" y="109664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5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nAMAAEYCAAD6DgAA5QUAABAgAAAmAAAACAAAAP//////////"/>
              </a:ext>
            </a:extLst>
          </p:cNvSpPr>
          <p:nvPr/>
        </p:nvSpPr>
        <p:spPr>
          <a:xfrm>
            <a:off x="586740" y="369570"/>
            <a:ext cx="1847850" cy="5886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3400" b="1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Выводы</a:t>
            </a:r>
            <a:endParaRPr lang="en-us" sz="34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6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AcAAPYKAABHCAAAqQwAABAgAAAmAAAACAAAAP//////////"/>
              </a:ext>
            </a:extLst>
          </p:cNvSpPr>
          <p:nvPr/>
        </p:nvSpPr>
        <p:spPr>
          <a:xfrm>
            <a:off x="1143000" y="1781810"/>
            <a:ext cx="202565" cy="276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1.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AcAAN0TAABjCAAAoRUAABAAAAAmAAAACAAAAP//////////"/>
              </a:ext>
            </a:extLst>
          </p:cNvSpPr>
          <p:nvPr/>
        </p:nvSpPr>
        <p:spPr>
          <a:xfrm>
            <a:off x="1148080" y="3228975"/>
            <a:ext cx="215265" cy="2870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r>
              <a:rPr lang="en-us" sz="1600" b="1" cap="none">
                <a:solidFill>
                  <a:srgbClr val="9857F3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2.</a:t>
            </a:r>
            <a:endParaRPr lang="en-us" sz="16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Прямоугольник2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wgAAAkLAADsMQAAlhAAAAAAAAAmAAAACAAAAP//////////"/>
              </a:ext>
            </a:extLst>
          </p:cNvSpPr>
          <p:nvPr/>
        </p:nvSpPr>
        <p:spPr>
          <a:xfrm>
            <a:off x="1363345" y="1793875"/>
            <a:ext cx="6751955" cy="9023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Удалось разработать  мультиплатформанное приложение на Kotlin для работы c 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моделями машинного обучения. В связи с недостатотком времени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не удалось включить в проект разные объяснимые модели, добавлял только 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шаблонные примеры, но раскрыть тему работу с ними в рамках kotlin бэкэнд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приложения, я считаю получилось </a:t>
            </a:r>
          </a:p>
        </p:txBody>
      </p:sp>
      <p:sp>
        <p:nvSpPr>
          <p:cNvPr id="9" name="Прямоугольник2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wgAAN0TAADsMQAARxgAAAAgAAAmAAAACAAAAP//////////"/>
              </a:ext>
            </a:extLst>
          </p:cNvSpPr>
          <p:nvPr/>
        </p:nvSpPr>
        <p:spPr>
          <a:xfrm>
            <a:off x="1363345" y="3228975"/>
            <a:ext cx="6751955" cy="7175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Проект  показался очень полезным в рамках понимания работы kotlin backend.</a:t>
            </a:r>
          </a:p>
          <a:p>
            <a:pPr>
              <a:defRPr lang="en-us" sz="1400" cap="none">
                <a:solidFill>
                  <a:srgbClr val="000000"/>
                </a:solidFill>
                <a:latin typeface="Roboto" pitchFamily="0" charset="0"/>
                <a:ea typeface="Roboto" pitchFamily="0" charset="0"/>
                <a:cs typeface="Roboto" pitchFamily="0" charset="0"/>
              </a:defRPr>
            </a:pPr>
            <a:r>
              <a:t>Могу без сомнения поставить 10 из 10 этому новому опыту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iP////////9qOQAApB8AABAAAAAmAAAACAAAAP//////////"/>
              </a:ext>
            </a:extLst>
          </p:cNvSpPr>
          <p:nvPr/>
        </p:nvSpPr>
        <p:spPr>
          <a:xfrm>
            <a:off x="-76200" y="-635"/>
            <a:ext cx="9409430" cy="5144135"/>
          </a:xfrm>
          <a:custGeom>
            <a:avLst/>
            <a:gdLst/>
            <a:ahLst/>
            <a:cxnLst/>
            <a:rect l="0" t="0" r="9409430" b="5144135"/>
            <a:pathLst>
              <a:path w="9409430" h="5144135">
                <a:moveTo>
                  <a:pt x="0" y="0"/>
                </a:moveTo>
                <a:lnTo>
                  <a:pt x="9409430" y="0"/>
                </a:lnTo>
                <a:lnTo>
                  <a:pt x="9409430" y="5144135"/>
                </a:lnTo>
                <a:lnTo>
                  <a:pt x="0" y="514413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5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Hn4//8yAAAAaTkAAFgt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-1223645" y="31750"/>
            <a:ext cx="10556240" cy="733933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YQIAAFgLAAAKMQAA5Q8AABAAAAAmAAAACAAAAP//////////"/>
              </a:ext>
            </a:extLst>
          </p:cNvSpPr>
          <p:nvPr/>
        </p:nvSpPr>
        <p:spPr>
          <a:xfrm>
            <a:off x="386715" y="1844040"/>
            <a:ext cx="7585075" cy="739775"/>
          </a:xfrm>
          <a:custGeom>
            <a:avLst/>
            <a:gdLst/>
            <a:ahLst/>
            <a:cxnLst/>
            <a:rect l="0" t="0" r="7585075" b="739775"/>
            <a:pathLst>
              <a:path w="7585075" h="739775">
                <a:moveTo>
                  <a:pt x="0" y="0"/>
                </a:moveTo>
                <a:lnTo>
                  <a:pt x="7585075" y="0"/>
                </a:lnTo>
                <a:lnTo>
                  <a:pt x="7585075" y="739775"/>
                </a:lnTo>
                <a:lnTo>
                  <a:pt x="0" y="73977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eQcAANYSAABVEwAAZRUAABAAAAAmAAAACAAAAP//////////"/>
              </a:ext>
            </a:extLst>
          </p:cNvSpPr>
          <p:nvPr/>
        </p:nvSpPr>
        <p:spPr>
          <a:xfrm>
            <a:off x="1214755" y="3061970"/>
            <a:ext cx="1927860" cy="415925"/>
          </a:xfrm>
          <a:custGeom>
            <a:avLst/>
            <a:gdLst/>
            <a:ahLst/>
            <a:cxnLst/>
            <a:rect l="0" t="0" r="1927860" b="415925"/>
            <a:pathLst>
              <a:path w="1927860" h="415925">
                <a:moveTo>
                  <a:pt x="0" y="0"/>
                </a:moveTo>
                <a:lnTo>
                  <a:pt x="1927860" y="0"/>
                </a:lnTo>
                <a:lnTo>
                  <a:pt x="1927860" y="415925"/>
                </a:lnTo>
                <a:lnTo>
                  <a:pt x="0" y="41592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8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Kurq6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6AIAADwLAADaLQAAfg8AABAgAAAmAAAACAAAAP//////////"/>
              </a:ext>
            </a:extLst>
          </p:cNvSpPr>
          <p:nvPr/>
        </p:nvSpPr>
        <p:spPr>
          <a:xfrm>
            <a:off x="472440" y="1826260"/>
            <a:ext cx="6981190" cy="6921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4000" b="1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Вопросы и рекомендации</a:t>
            </a:r>
            <a:endParaRPr lang="en-us" sz="4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9" name="Кривая5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LW1tb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Wx4AANYSAACPKwAAZRUAABAAAAAmAAAACAAAAP//////////"/>
              </a:ext>
            </a:extLst>
          </p:cNvSpPr>
          <p:nvPr/>
        </p:nvSpPr>
        <p:spPr>
          <a:xfrm>
            <a:off x="4934585" y="3061970"/>
            <a:ext cx="2146300" cy="415925"/>
          </a:xfrm>
          <a:custGeom>
            <a:avLst/>
            <a:gdLst/>
            <a:ahLst/>
            <a:cxnLst/>
            <a:rect l="0" t="0" r="2146300" b="415925"/>
            <a:pathLst>
              <a:path w="2146300" h="415925">
                <a:moveTo>
                  <a:pt x="0" y="0"/>
                </a:moveTo>
                <a:lnTo>
                  <a:pt x="2146300" y="0"/>
                </a:lnTo>
                <a:lnTo>
                  <a:pt x="2146300" y="415925"/>
                </a:lnTo>
                <a:lnTo>
                  <a:pt x="0" y="41592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0" name="Прямоугольник2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B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gAADwTAADCEgAA1xQAABAgAAAmAAAACAAAAP//////////"/>
              </a:ext>
            </a:extLst>
          </p:cNvSpPr>
          <p:nvPr/>
        </p:nvSpPr>
        <p:spPr>
          <a:xfrm>
            <a:off x="1300480" y="3126740"/>
            <a:ext cx="1748790" cy="2609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если есть вопросы</a:t>
            </a:r>
            <a:endParaRPr lang="en-us" sz="15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1" name="Кривая6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B0dHR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cgQAAIIRAAB5BwAAuBYAABAAAAAmAAAACAAAAP//////////"/>
              </a:ext>
            </a:extLst>
          </p:cNvSpPr>
          <p:nvPr/>
        </p:nvSpPr>
        <p:spPr>
          <a:xfrm>
            <a:off x="722630" y="2846070"/>
            <a:ext cx="492125" cy="847090"/>
          </a:xfrm>
          <a:custGeom>
            <a:avLst/>
            <a:gdLst/>
            <a:ahLst/>
            <a:cxnLst/>
            <a:rect l="0" t="0" r="492125" b="847090"/>
            <a:pathLst>
              <a:path w="492125" h="847090">
                <a:moveTo>
                  <a:pt x="0" y="0"/>
                </a:moveTo>
                <a:lnTo>
                  <a:pt x="492125" y="0"/>
                </a:lnTo>
                <a:lnTo>
                  <a:pt x="492125" y="847090"/>
                </a:lnTo>
                <a:lnTo>
                  <a:pt x="0" y="84709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2" name="Прямоугольник3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CcnJy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4h4AADwTAACbKQAA1xQAABAgAAAmAAAACAAAAP//////////"/>
              </a:ext>
            </a:extLst>
          </p:cNvSpPr>
          <p:nvPr/>
        </p:nvSpPr>
        <p:spPr>
          <a:xfrm>
            <a:off x="5020310" y="3126740"/>
            <a:ext cx="1743075" cy="2609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если вопросов нет</a:t>
            </a:r>
            <a:endParaRPr lang="en-us" sz="15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3" name="Кривая7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I6Ojo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VRsAAIIRAABcHgAAuBYAABAAAAAmAAAACAAAAP//////////"/>
              </a:ext>
            </a:extLst>
          </p:cNvSpPr>
          <p:nvPr/>
        </p:nvSpPr>
        <p:spPr>
          <a:xfrm>
            <a:off x="4443095" y="2846070"/>
            <a:ext cx="492125" cy="847090"/>
          </a:xfrm>
          <a:custGeom>
            <a:avLst/>
            <a:gdLst/>
            <a:ahLst/>
            <a:cxnLst/>
            <a:rect l="0" t="0" r="492125" b="847090"/>
            <a:pathLst>
              <a:path w="492125" h="847090">
                <a:moveTo>
                  <a:pt x="0" y="0"/>
                </a:moveTo>
                <a:lnTo>
                  <a:pt x="492125" y="0"/>
                </a:lnTo>
                <a:lnTo>
                  <a:pt x="492125" y="847090"/>
                </a:lnTo>
                <a:lnTo>
                  <a:pt x="0" y="84709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4" name="Прямоугольник4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C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+QQAAKwRAABVCAAAQBYAABAgAAAmAAAACAAAAP//////////"/>
              </a:ext>
            </a:extLst>
          </p:cNvSpPr>
          <p:nvPr/>
        </p:nvSpPr>
        <p:spPr>
          <a:xfrm>
            <a:off x="808355" y="2872740"/>
            <a:ext cx="546100" cy="7442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43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+</a:t>
            </a:r>
            <a:endParaRPr lang="en-us" sz="43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15" name="Прямоугольник5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VVVV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3RsAAKwRAAA4HwAAQBYAABAgAAAmAAAACAAAAP//////////"/>
              </a:ext>
            </a:extLst>
          </p:cNvSpPr>
          <p:nvPr/>
        </p:nvSpPr>
        <p:spPr>
          <a:xfrm>
            <a:off x="4529455" y="2872740"/>
            <a:ext cx="545465" cy="7442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43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– </a:t>
            </a:r>
            <a:endParaRPr lang="en-us" sz="43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ривая1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I+Pj4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AAAAAAAAAABAOAAApB8AABAAAAAmAAAACAAAAP//////////"/>
              </a:ext>
            </a:extLst>
          </p:cNvSpPr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9144000" b="5143500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3" name="Изображение1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AAAAAAAAAAAPzgAAKQf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Кривая2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B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iP///wAAAABAOAAApB8AABAAAAAmAAAACAAAAP//////////"/>
              </a:ext>
            </a:extLst>
          </p:cNvSpPr>
          <p:nvPr/>
        </p:nvSpPr>
        <p:spPr>
          <a:xfrm>
            <a:off x="-76200" y="0"/>
            <a:ext cx="9220200" cy="5143500"/>
          </a:xfrm>
          <a:custGeom>
            <a:avLst/>
            <a:gdLst/>
            <a:ahLst/>
            <a:cxnLst/>
            <a:rect l="0" t="0" r="9220200" b="5143500"/>
            <a:pathLst>
              <a:path w="9220200" h="5143500">
                <a:moveTo>
                  <a:pt x="0" y="0"/>
                </a:moveTo>
                <a:lnTo>
                  <a:pt x="9220200" y="0"/>
                </a:lnTo>
                <a:lnTo>
                  <a:pt x="92202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5" name="Изображение2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Ij////i/P//PzgAAJk1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-76200" y="-506730"/>
            <a:ext cx="9219565" cy="921956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Кривая3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3gMAAOMLAAC/MAAA7RcAABAAAAAmAAAACAAAAP//////////"/>
              </a:ext>
            </a:extLst>
          </p:cNvSpPr>
          <p:nvPr/>
        </p:nvSpPr>
        <p:spPr>
          <a:xfrm>
            <a:off x="628650" y="1932305"/>
            <a:ext cx="7295515" cy="1957070"/>
          </a:xfrm>
          <a:custGeom>
            <a:avLst/>
            <a:gdLst/>
            <a:ahLst/>
            <a:cxnLst/>
            <a:rect l="0" t="0" r="7295515" b="1957070"/>
            <a:pathLst>
              <a:path w="7295515" h="1957070">
                <a:moveTo>
                  <a:pt x="0" y="0"/>
                </a:moveTo>
                <a:lnTo>
                  <a:pt x="7295515" y="0"/>
                </a:lnTo>
                <a:lnTo>
                  <a:pt x="7295515" y="1957070"/>
                </a:lnTo>
                <a:lnTo>
                  <a:pt x="0" y="19570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sp>
        <p:nvSpPr>
          <p:cNvPr id="7" name="Кривая4"/>
          <p:cNvSpPr>
            <a:extLst>
              <a:ext uri="smNativeData">
                <pr:smNativeData xmlns:pr="smNativeData" xmlns="smNativeData" val="SMDATA_15_nmqoaBMAAAAlAAAACw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AAAAC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FC0AAPIJAAC/MAAAnQ0AABAAAAAmAAAACAAAAP//////////"/>
              </a:ext>
            </a:extLst>
          </p:cNvSpPr>
          <p:nvPr/>
        </p:nvSpPr>
        <p:spPr>
          <a:xfrm>
            <a:off x="7327900" y="1616710"/>
            <a:ext cx="596265" cy="596265"/>
          </a:xfrm>
          <a:custGeom>
            <a:avLst/>
            <a:gdLst/>
            <a:ahLst/>
            <a:cxnLst/>
            <a:rect l="0" t="0" r="596265" b="596265"/>
            <a:pathLst>
              <a:path w="596265" h="596265">
                <a:moveTo>
                  <a:pt x="0" y="0"/>
                </a:moveTo>
                <a:lnTo>
                  <a:pt x="596265" y="0"/>
                </a:lnTo>
                <a:lnTo>
                  <a:pt x="596265" y="596265"/>
                </a:lnTo>
                <a:lnTo>
                  <a:pt x="0" y="59626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/>
            <a:endParaRPr lang="en-us" sz="2400" cap="none">
              <a:solidFill>
                <a:srgbClr val="FFFFFF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  <p:pic>
        <p:nvPicPr>
          <p:cNvPr id="8" name="Изображение3"/>
          <p:cNvPicPr>
            <a:extLst>
              <a:ext uri="smNativeData">
                <pr:smNativeData xmlns:pr="smNativeData" xmlns="smNativeData" val="SMDATA_17_nmqoaBMAAAAlAAAAEQAAAA0AAAAAkAAAAEgAAACQAAAAS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BijAwX///8BAAAAAAAAAAAAAAAAAAAAAAAAAAAAAAAAAAAAAAAAAAAAAAACf39/AP///wPMzMwAwMD/AH9/fwAAAAAAAAAAAAAAAAD///8AAAAAACEAAAAYAAAAFAAAABQtAADyCQAAvzAAAJwN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7327900" y="1616710"/>
            <a:ext cx="596265" cy="59563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Прямоугольник1"/>
          <p:cNvSpPr>
            <a:extLst>
              <a:ext uri="smNativeData">
                <pr:smNativeData xmlns:pr="smNativeData" xmlns="smNativeData" val="SMDATA_15_nmqoaBMAAAAlAAAAZAAAAA0AAAAAAAAAAAAAAAAAAAAAAAAAAAAAAAAAAAAAAAAAAAEAAABQAAAAAAAAAAAA4D8AAAAAAADgPwAAAAAAAOA/AAAAAAAA4D8AAAAAAADgPwAAAAAAAOA/AAAAAAAA4D8AAAAAAADgPwAAAAAAAOA/AAAAAAAA4D8CAAAAjAAAAAAAAAAAAAAAGKMD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///8KAAAAACgAAAAoAAAAZAAAAGQAAAAAAAAAzMzMAAAAAABQAAAAUAAAAGQAAABkAAAAAAAAABcAAAAUAAAAAAAAAAAAAAD/fwAA/38AAAAAAAAJAAAABAAAAC4uLi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MDBf///wEAAAAAAAAAAAAAAAAAAAAAAAAAAAAAAAAAAAAAAAAAAAAAAAJ/f38A////A8zMzADAwP8Af39/AAAAAAAAAAAAAAAAAAAAAAAAAAAAIQAAABgAAAAUAAAAZQQAAP0LAABlMgAAUREAABAgAAAmAAAACAAAAP//////////"/>
              </a:ext>
            </a:extLst>
          </p:cNvSpPr>
          <p:nvPr/>
        </p:nvSpPr>
        <p:spPr>
          <a:xfrm>
            <a:off x="714375" y="1948815"/>
            <a:ext cx="7477760" cy="8661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/>
            <a:r>
              <a:rPr lang="en-us" sz="5000" b="1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DejaVu Sans" pitchFamily="0" charset="0"/>
              </a:rPr>
              <a:t>Спасибо за внимание!</a:t>
            </a:r>
            <a:endParaRPr lang="en-us" sz="5000" cap="none">
              <a:solidFill>
                <a:srgbClr val="000000"/>
              </a:solidFill>
              <a:latin typeface="Times New Roman" pitchFamily="1" charset="-52"/>
              <a:ea typeface="DejaVu Sans" pitchFamily="0" charset="0"/>
              <a:cs typeface="DejaVu Sans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18A303"/>
        </a:accent1>
        <a:accent2>
          <a:srgbClr val="0369A3"/>
        </a:accent2>
        <a:accent3>
          <a:srgbClr val="A33E03"/>
        </a:accent3>
        <a:accent4>
          <a:srgbClr val="8E03A3"/>
        </a:accent4>
        <a:accent5>
          <a:srgbClr val="C99C00"/>
        </a:accent5>
        <a:accent6>
          <a:srgbClr val="C9211E"/>
        </a:accent6>
        <a:hlink>
          <a:srgbClr val="0000EE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AlexFil</cp:lastModifiedBy>
  <cp:revision>0</cp:revision>
  <dcterms:created xsi:type="dcterms:W3CDTF">2025-08-21T15:11:04Z</dcterms:created>
  <dcterms:modified xsi:type="dcterms:W3CDTF">2025-08-22T13:03:26Z</dcterms:modified>
</cp:coreProperties>
</file>