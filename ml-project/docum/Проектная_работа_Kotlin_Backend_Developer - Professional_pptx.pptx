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310" r:id="rId14"/>
    <p:sldId id="308" r:id="rId15"/>
    <p:sldId id="309" r:id="rId16"/>
    <p:sldId id="311" r:id="rId17"/>
    <p:sldId id="264" r:id="rId18"/>
    <p:sldId id="265" r:id="rId19"/>
    <p:sldId id="266" r:id="rId20"/>
    <p:sldId id="267" r:id="rId21"/>
  </p:sldIdLst>
  <p:sldSz cx="9144000" cy="5143500"/>
  <p:notesSz cx="7559675" cy="1069213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DejaVu Sans" pitchFamily="0" charset="0"/>
        <a:cs typeface="DejaVu Sans" pitchFamily="0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DejaVu Sans" pitchFamily="0" charset="0"/>
        <a:cs typeface="DejaVu Sans" pitchFamily="0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DejaVu Sans" pitchFamily="0" charset="0"/>
        <a:cs typeface="DejaVu Sans" pitchFamily="0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DejaVu Sans" pitchFamily="0" charset="0"/>
        <a:cs typeface="DejaVu Sans" pitchFamily="0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DejaVu Sans" pitchFamily="0" charset="0"/>
        <a:cs typeface="DejaVu Sans" pitchFamily="0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DejaVu Sans" pitchFamily="0" charset="0"/>
        <a:cs typeface="DejaVu Sans" pitchFamily="0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DejaVu Sans" pitchFamily="0" charset="0"/>
        <a:cs typeface="DejaVu Sans" pitchFamily="0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DejaVu Sans" pitchFamily="0" charset="0"/>
        <a:cs typeface="DejaVu Sans" pitchFamily="0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DejaVu Sans" pitchFamily="0" charset="0"/>
        <a:cs typeface="DejaVu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56036650" val="1215" revOS="4"/>
      <pr:smFileRevision xmlns:pr="smNativeData" xmlns="smNativeData" dt="1756036650" val="101"/>
      <pr:guideOptions xmlns:pr="smNativeData" xmlns="smNativeData" dt="1756036650" snapToGrid="1" snapToBorders="1" snapToGuides="1"/>
      <pr:pdfExportOpt xmlns:pr="smNativeData" xmlns="smNativeData" dt="1756036650" pagesRangeIndex="1" pagesSelectionIndex="0" qualityIndex="2" embedFonts="2" useJpegs="0" useSubsetFonts="1" useAlpha="1" relativeLinks="0" taggedPdf="0" pane="0" zoom="0" zoomContents="100" layout="0" includeDoc="0" viewFlags="0" openViewer="1" jpegQuality="90" flags="252" layoutIndex="0" exportSlideNames="1" dpi="2" resample="1" name="C:\Users\AlexFil\Downloads\Проектная_работа_Kotlin_Backend_Developer - Professional_pdf.pdf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Objects="1" showGuides="1">
      <p:cViewPr varScale="1">
        <p:scale>
          <a:sx n="93" d="100"/>
          <a:sy n="93" d="100"/>
        </p:scale>
        <p:origin x="288" y="288"/>
      </p:cViewPr>
      <p:guideLst x="0" y="0"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20" d="100"/>
        <a:sy n="20" d="100"/>
      </p:scale>
      <p:origin x="0" y="0"/>
    </p:cViewPr>
  </p:sorterViewPr>
  <p:notesViewPr>
    <p:cSldViewPr snapToObjects="1" showGuides="1">
      <p:cViewPr>
        <p:scale>
          <a:sx n="93" d="100"/>
          <a:sy n="93" d="100"/>
        </p:scale>
        <p:origin x="288" y="288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Kv6qaBMAAAAlAAAAZA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CwBAABvNQAAFQYAABAAAAAmAAAACAAAADwg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:pr="smNativeData" xmlns="smNativeData" val="SMDATA_15_Kv6qaBMAAAAlAAAAZA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OMGAABvNQAA8xcAABAAAAAmAAAACAAAALwgAAD/HwAA"/>
              </a:ext>
            </a:extLst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Kv6qaBMAAAAlAAAAZA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CwBAABvNQAAFQYAABAAAAAmAAAACAAAAL0vAAD/HwAA"/>
              </a:ext>
            </a:extLst>
          </p:cNvSpPr>
          <p:nvPr>
            <p:ph type="title"/>
          </p:nvPr>
        </p:nvSpPr>
        <p:spPr>
          <a:xfrm>
            <a:off x="457200" y="190500"/>
            <a:ext cx="8228965" cy="7981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sBAh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OMGAABvNQAA8xcAABAAAAAmAAAACAAAAL0vAAD/HwAA"/>
              </a:ext>
            </a:extLst>
          </p:cNvSpPr>
          <p:nvPr>
            <p:ph type="body"/>
          </p:nvPr>
        </p:nvSpPr>
        <p:spPr>
          <a:xfrm>
            <a:off x="457200" y="1119505"/>
            <a:ext cx="8228965" cy="27736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pitchFamily="0" charset="2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  <a:endParaRPr lang="en-us" cap="none">
              <a:solidFill>
                <a:srgbClr val="000000"/>
              </a:solidFill>
            </a:endParaRPr>
          </a:p>
          <a:p>
            <a:pPr lvl="1" marL="864235" indent="-323850">
              <a:spcBef>
                <a:spcPts val="1130"/>
              </a:spcBef>
              <a:buClrTx/>
              <a:buSzPts val="2100"/>
              <a:buFont typeface="Symbol" pitchFamily="1" charset="2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  <a:endParaRPr lang="en-us" cap="none">
              <a:solidFill>
                <a:srgbClr val="000000"/>
              </a:solidFill>
            </a:endParaRPr>
          </a:p>
          <a:p>
            <a:pPr lvl="2" marL="1296035" indent="-288290">
              <a:spcBef>
                <a:spcPts val="850"/>
              </a:spcBef>
              <a:buClrTx/>
              <a:buSzPts val="1080"/>
              <a:buFont typeface="Wingdings" pitchFamily="0" charset="2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  <a:endParaRPr lang="en-us" cap="none">
              <a:solidFill>
                <a:srgbClr val="000000"/>
              </a:solidFill>
            </a:endParaRPr>
          </a:p>
          <a:p>
            <a:pPr lvl="3" marL="1727835" indent="-215900">
              <a:spcBef>
                <a:spcPts val="565"/>
              </a:spcBef>
              <a:buClrTx/>
              <a:buSzPts val="1500"/>
              <a:buFont typeface="Symbol" pitchFamily="1" charset="2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  <a:endParaRPr lang="en-us" cap="none">
              <a:solidFill>
                <a:srgbClr val="000000"/>
              </a:solidFill>
            </a:endParaRPr>
          </a:p>
          <a:p>
            <a:pPr lvl="4" marL="2160270" indent="-215900">
              <a:spcBef>
                <a:spcPts val="280"/>
              </a:spcBef>
              <a:buClrTx/>
              <a:buSzPts val="900"/>
              <a:buFont typeface="Wingdings" pitchFamily="0" charset="2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  <a:endParaRPr lang="en-us" cap="none">
              <a:solidFill>
                <a:srgbClr val="000000"/>
              </a:solidFill>
            </a:endParaRPr>
          </a:p>
          <a:p>
            <a:pPr lvl="5" marL="2592070" indent="-215900">
              <a:spcBef>
                <a:spcPts val="280"/>
              </a:spcBef>
              <a:buClrTx/>
              <a:buSzPts val="900"/>
              <a:buFont typeface="Wingdings" pitchFamily="0" charset="2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  <a:endParaRPr lang="en-us" cap="none">
              <a:solidFill>
                <a:srgbClr val="000000"/>
              </a:solidFill>
            </a:endParaRPr>
          </a:p>
          <a:p>
            <a:pPr lvl="6" marL="3023870" indent="-215900">
              <a:spcBef>
                <a:spcPts val="280"/>
              </a:spcBef>
              <a:buClrTx/>
              <a:buSzPts val="900"/>
              <a:buFont typeface="Wingdings" pitchFamily="0" charset="2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  <a:endParaRPr lang="en-us" cap="none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1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8.jpe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9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0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1.jpe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2.pn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3.pn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4.png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5.png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6.jpeg"/></Relationships>
</file>

<file path=ppt/slides/_rels/slide1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7.png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3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3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AAAAAAAAAAAPz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4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D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iP///wAAAABAOAAApB8AABAAAAAmAAAACAAAAP//////////"/>
              </a:ext>
            </a:extLst>
          </p:cNvSpPr>
          <p:nvPr/>
        </p:nvSpPr>
        <p:spPr>
          <a:xfrm>
            <a:off x="-76200" y="0"/>
            <a:ext cx="9220200" cy="5143500"/>
          </a:xfrm>
          <a:custGeom>
            <a:avLst/>
            <a:gdLst/>
            <a:ahLst/>
            <a:cxnLst/>
            <a:rect l="0" t="0" r="9220200" b="5143500"/>
            <a:pathLst>
              <a:path w="9220200" h="5143500">
                <a:moveTo>
                  <a:pt x="0" y="0"/>
                </a:moveTo>
                <a:lnTo>
                  <a:pt x="9220200" y="0"/>
                </a:lnTo>
                <a:lnTo>
                  <a:pt x="92202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5" name="Изображение2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E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Ij////i/P//PzgAAJk1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-506730"/>
            <a:ext cx="9219565" cy="921956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G8BAABaAgAAfh0AAF0H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" y="382270"/>
            <a:ext cx="4561205" cy="81470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EAAAAAAAAAdA+0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A+0AP///wEAAAAAAAAAAAAAAAAAAAAAAAAAAAAAAAAAAAAAAAAAAAAAAAJ/f38A////A8zMzADAwP8Af39/AAAAAAAAAAAAAAAAAAAAAAAAAAAAIQAAABgAAAAUAAAAqgIAAGcDAABEHAAA9gUAABAAAAAmAAAACAAAAP//////////"/>
              </a:ext>
            </a:extLst>
          </p:cNvSpPr>
          <p:nvPr/>
        </p:nvSpPr>
        <p:spPr>
          <a:xfrm>
            <a:off x="433070" y="553085"/>
            <a:ext cx="4161790" cy="415925"/>
          </a:xfrm>
          <a:custGeom>
            <a:avLst/>
            <a:gdLst/>
            <a:ahLst/>
            <a:cxnLst/>
            <a:rect l="0" t="0" r="4161790" b="415925"/>
            <a:pathLst>
              <a:path w="4161790" h="415925">
                <a:moveTo>
                  <a:pt x="0" y="69140"/>
                </a:moveTo>
                <a:cubicBezTo>
                  <a:pt x="0" y="30969"/>
                  <a:pt x="30959" y="0"/>
                  <a:pt x="69117" y="0"/>
                </a:cubicBezTo>
                <a:lnTo>
                  <a:pt x="4092313" y="0"/>
                </a:lnTo>
                <a:cubicBezTo>
                  <a:pt x="4110672" y="0"/>
                  <a:pt x="4128311" y="7202"/>
                  <a:pt x="4141271" y="20166"/>
                </a:cubicBezTo>
                <a:cubicBezTo>
                  <a:pt x="4154230" y="33129"/>
                  <a:pt x="4161790" y="50775"/>
                  <a:pt x="4161790" y="69140"/>
                </a:cubicBezTo>
                <a:lnTo>
                  <a:pt x="4161790" y="346784"/>
                </a:lnTo>
                <a:cubicBezTo>
                  <a:pt x="4161790" y="384955"/>
                  <a:pt x="4130471" y="415925"/>
                  <a:pt x="4092313" y="415925"/>
                </a:cubicBezTo>
                <a:lnTo>
                  <a:pt x="69117" y="415925"/>
                </a:lnTo>
                <a:cubicBezTo>
                  <a:pt x="30959" y="415925"/>
                  <a:pt x="0" y="384955"/>
                  <a:pt x="0" y="346784"/>
                </a:cubicBezTo>
                <a:lnTo>
                  <a:pt x="0" y="69140"/>
                </a:lnTo>
                <a:close/>
              </a:path>
            </a:pathLst>
          </a:custGeom>
          <a:solidFill>
            <a:srgbClr val="740FB4"/>
          </a:solidFill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8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qgIAAKILAABSMQAAiRQAABAAAAAmAAAACAAAAP//////////"/>
              </a:ext>
            </a:extLst>
          </p:cNvSpPr>
          <p:nvPr/>
        </p:nvSpPr>
        <p:spPr>
          <a:xfrm>
            <a:off x="433070" y="1891030"/>
            <a:ext cx="7584440" cy="1447165"/>
          </a:xfrm>
          <a:custGeom>
            <a:avLst/>
            <a:gdLst/>
            <a:ahLst/>
            <a:cxnLst/>
            <a:rect l="0" t="0" r="7584440" b="1447165"/>
            <a:pathLst>
              <a:path w="7584440" h="1447165">
                <a:moveTo>
                  <a:pt x="0" y="0"/>
                </a:moveTo>
                <a:lnTo>
                  <a:pt x="7584440" y="0"/>
                </a:lnTo>
                <a:lnTo>
                  <a:pt x="7584440" y="1447165"/>
                </a:lnTo>
                <a:lnTo>
                  <a:pt x="0" y="144716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9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MQMAAM8LAAC5GQAALhAAAAAgAAAmAAAACAAAAP//////////"/>
              </a:ext>
            </a:extLst>
          </p:cNvSpPr>
          <p:nvPr/>
        </p:nvSpPr>
        <p:spPr>
          <a:xfrm>
            <a:off x="518795" y="1919605"/>
            <a:ext cx="3662680" cy="7105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sz="2400" b="0" i="1" cap="none">
                <a:solidFill>
                  <a:srgbClr val="FFFFFF"/>
                </a:solidFill>
              </a:defRPr>
            </a:pPr>
            <a:r>
              <a:rPr lang="en-us" cap="none">
                <a:latin typeface="Roboto" pitchFamily="0" charset="0"/>
                <a:ea typeface="Roboto" pitchFamily="0" charset="0"/>
                <a:cs typeface="DejaVu Sans" pitchFamily="0" charset="0"/>
              </a:rPr>
              <a:t>Масштабируемая система</a:t>
            </a:r>
            <a:r>
              <a:rPr lang="en-us" cap="none">
                <a:latin typeface="Times New Roman" pitchFamily="1" charset="-52"/>
                <a:ea typeface="DejaVu Sans" pitchFamily="0" charset="0"/>
                <a:cs typeface="DejaVu Sans" pitchFamily="0" charset="0"/>
              </a:rPr>
              <a:t> </a:t>
            </a:r>
            <a:endParaRPr lang="en-us" cap="none"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  <a:p>
            <a:pPr>
              <a:defRPr sz="2400" b="0" i="1" cap="none">
                <a:solidFill>
                  <a:srgbClr val="FFFFFF"/>
                </a:solidFill>
              </a:defRPr>
            </a:pPr>
            <a:r>
              <a:rPr lang="en-us" cap="none">
                <a:latin typeface="Times New Roman" pitchFamily="1" charset="-52"/>
                <a:ea typeface="DejaVu Sans" pitchFamily="0" charset="0"/>
                <a:cs typeface="DejaVu Sans" pitchFamily="0" charset="0"/>
              </a:rPr>
              <a:t>для выполнения задач машинного обучения</a:t>
            </a:r>
            <a:endParaRPr lang="en-us" cap="none"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  <a:p>
            <a:pPr>
              <a:defRPr sz="2400" b="0" i="1" cap="none">
                <a:solidFill>
                  <a:srgbClr val="FFFFFF"/>
                </a:solidFill>
              </a:defRPr>
            </a:pPr>
            <a:r>
              <a:rPr lang="en-us" cap="none">
                <a:latin typeface="Times New Roman" pitchFamily="1" charset="-52"/>
                <a:ea typeface="DejaVu Sans" pitchFamily="0" charset="0"/>
                <a:cs typeface="DejaVu Sans" pitchFamily="0" charset="0"/>
              </a:rPr>
              <a:t> с использованием Kotlin</a:t>
            </a:r>
            <a:endParaRPr lang="en-us" cap="none"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0" name="Кривая6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hQMAAGcDAAA6HgAA9gUAABAAAAAmAAAACAAAAP//////////"/>
              </a:ext>
            </a:extLst>
          </p:cNvSpPr>
          <p:nvPr/>
        </p:nvSpPr>
        <p:spPr>
          <a:xfrm>
            <a:off x="572135" y="553085"/>
            <a:ext cx="4341495" cy="415925"/>
          </a:xfrm>
          <a:custGeom>
            <a:avLst/>
            <a:gdLst/>
            <a:ahLst/>
            <a:cxnLst/>
            <a:rect l="0" t="0" r="4341495" b="415925"/>
            <a:pathLst>
              <a:path w="4341495" h="415925">
                <a:moveTo>
                  <a:pt x="0" y="0"/>
                </a:moveTo>
                <a:lnTo>
                  <a:pt x="4341495" y="0"/>
                </a:lnTo>
                <a:lnTo>
                  <a:pt x="4341495" y="415925"/>
                </a:lnTo>
                <a:lnTo>
                  <a:pt x="0" y="41592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1" name="Прямоугольник3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H0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MQMAAKcPAADiEAAABhQAAAAgAAAmAAAACAAAAP//////////"/>
              </a:ext>
            </a:extLst>
          </p:cNvSpPr>
          <p:nvPr/>
        </p:nvSpPr>
        <p:spPr>
          <a:xfrm>
            <a:off x="518795" y="2544445"/>
            <a:ext cx="2225675" cy="7105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lang="en-us" sz="4100" cap="none">
                <a:solidFill>
                  <a:srgbClr val="000000"/>
                </a:solidFill>
                <a:latin typeface="Times New Roman" pitchFamily="1" charset="-52"/>
                <a:ea typeface="DejaVu Sans" pitchFamily="0" charset="0"/>
                <a:cs typeface="DejaVu Sans" pitchFamily="0" charset="0"/>
              </a:defRPr>
            </a:pPr>
          </a:p>
        </p:txBody>
      </p:sp>
      <p:sp>
        <p:nvSpPr>
          <p:cNvPr id="12" name="Кривая7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H0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rjAAAKcBAAC+NQAAaAMAABAAAAAmAAAACAAAAP//////////"/>
              </a:ext>
            </a:extLst>
          </p:cNvSpPr>
          <p:nvPr/>
        </p:nvSpPr>
        <p:spPr>
          <a:xfrm>
            <a:off x="7913370" y="268605"/>
            <a:ext cx="822960" cy="285115"/>
          </a:xfrm>
          <a:custGeom>
            <a:avLst/>
            <a:gdLst/>
            <a:ahLst/>
            <a:cxnLst/>
            <a:rect l="0" t="0" r="822960" b="285115"/>
            <a:pathLst>
              <a:path w="822960" h="285115">
                <a:moveTo>
                  <a:pt x="0" y="0"/>
                </a:moveTo>
                <a:lnTo>
                  <a:pt x="822960" y="0"/>
                </a:lnTo>
                <a:lnTo>
                  <a:pt x="822960" y="285115"/>
                </a:lnTo>
                <a:lnTo>
                  <a:pt x="0" y="28511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13" name="Изображение5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K8wAACnAQAAvTUAAGcD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7914005" y="268605"/>
            <a:ext cx="821690" cy="284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" name="Кривая5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4SkAAP8MAADhNAAAiB4AABAAAAAmAAAACAAAAP//////////"/>
              </a:ext>
            </a:extLst>
          </p:cNvSpPr>
          <p:nvPr/>
        </p:nvSpPr>
        <p:spPr>
          <a:xfrm>
            <a:off x="6807835" y="2112645"/>
            <a:ext cx="1788160" cy="2850515"/>
          </a:xfrm>
          <a:custGeom>
            <a:avLst/>
            <a:gdLst/>
            <a:ahLst/>
            <a:cxnLst/>
            <a:rect l="0" t="0" r="1788160" b="2850515"/>
            <a:pathLst>
              <a:path w="1788160" h="2850515">
                <a:moveTo>
                  <a:pt x="0" y="0"/>
                </a:moveTo>
                <a:lnTo>
                  <a:pt x="1788160" y="0"/>
                </a:lnTo>
                <a:lnTo>
                  <a:pt x="1788160" y="2850515"/>
                </a:lnTo>
                <a:lnTo>
                  <a:pt x="0" y="285051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15" name="Изображение4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OEpAAAADQAA4DQAAIce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6807835" y="2113280"/>
            <a:ext cx="1787525" cy="284924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6" name="Прямоугольник2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DAQAAM4DAADPGwAATAUAAAAAAAAmAAAACAAAAP//////////"/>
              </a:ext>
            </a:extLst>
          </p:cNvSpPr>
          <p:nvPr/>
        </p:nvSpPr>
        <p:spPr>
          <a:xfrm>
            <a:off x="657860" y="618490"/>
            <a:ext cx="3862705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>
              <a:defRPr lang="en-us" sz="1600" i="1" cap="none">
                <a:solidFill>
                  <a:srgbClr val="F4F4F6"/>
                </a:solidFill>
                <a:latin typeface="Roboto" pitchFamily="0" charset="0"/>
                <a:ea typeface="Roboto" pitchFamily="0" charset="0"/>
                <a:cs typeface="DejaVu Sans" pitchFamily="0" charset="0"/>
              </a:defRPr>
            </a:pPr>
            <a:r>
              <a:t>Kotlin Backend Developer. Professional</a:t>
            </a:r>
          </a:p>
        </p:txBody>
      </p:sp>
      <p:sp>
        <p:nvSpPr>
          <p:cNvPr id="17" name="Текстовое поле1"/>
          <p:cNvSpPr txBox="1">
            <a:extLst>
              <a:ext uri="smNativeData">
                <pr:smNativeData xmlns:pr="smNativeData" xmlns="smNativeData" val="SMDATA_15_Kv6qaBMAAAAlAAAAEgAAAE8B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NwI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iAMAAJ8GAABGDQAA3wgAAAAgAAAmAAAACAAAAP//////////"/>
              </a:ext>
            </a:extLst>
          </p:cNvSpPr>
          <p:nvPr/>
        </p:nvSpPr>
        <p:spPr>
          <a:xfrm>
            <a:off x="574040" y="1076325"/>
            <a:ext cx="158369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cap="none">
                <a:solidFill>
                  <a:schemeClr val="bg1"/>
                </a:solidFill>
              </a:defRPr>
            </a:pPr>
            <a:r>
              <a:t>otus.ru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AAAAAAAAAAAPz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lAQAALYIAABlNQAAbBEAABAAAAAmAAAACAAAAP//////////"/>
              </a:ext>
            </a:extLst>
          </p:cNvSpPr>
          <p:nvPr/>
        </p:nvSpPr>
        <p:spPr>
          <a:xfrm>
            <a:off x="744220" y="1416050"/>
            <a:ext cx="7935595" cy="1416050"/>
          </a:xfrm>
          <a:custGeom>
            <a:avLst/>
            <a:gdLst/>
            <a:ahLst/>
            <a:cxnLst/>
            <a:rect l="0" t="0" r="7935595" b="1416050"/>
            <a:pathLst>
              <a:path w="7935595" h="1416050">
                <a:moveTo>
                  <a:pt x="0" y="0"/>
                </a:moveTo>
                <a:lnTo>
                  <a:pt x="7935595" y="0"/>
                </a:lnTo>
                <a:lnTo>
                  <a:pt x="7935595" y="1416050"/>
                </a:lnTo>
                <a:lnTo>
                  <a:pt x="0" y="141605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5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GwUAAPoIAABTJgAAPA0AABAgAAAmAAAACAAAAP//////////"/>
              </a:ext>
            </a:extLst>
          </p:cNvSpPr>
          <p:nvPr/>
        </p:nvSpPr>
        <p:spPr>
          <a:xfrm>
            <a:off x="829945" y="1459230"/>
            <a:ext cx="5400040" cy="692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4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Меня хорошо видно</a:t>
            </a:r>
            <a:endParaRPr lang="en-us" sz="40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6" name="Кривая3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gAkAAKEXAADbDAAA/RoAABAAAAAmAAAACAAAAP//////////"/>
              </a:ext>
            </a:extLst>
          </p:cNvSpPr>
          <p:nvPr/>
        </p:nvSpPr>
        <p:spPr>
          <a:xfrm>
            <a:off x="1544320" y="3841115"/>
            <a:ext cx="545465" cy="546100"/>
          </a:xfrm>
          <a:custGeom>
            <a:avLst/>
            <a:gdLst/>
            <a:ahLst/>
            <a:cxnLst/>
            <a:rect l="0" t="0" r="545465" b="546100"/>
            <a:pathLst>
              <a:path w="545465" h="546100">
                <a:moveTo>
                  <a:pt x="0" y="0"/>
                </a:moveTo>
                <a:lnTo>
                  <a:pt x="545465" y="0"/>
                </a:lnTo>
                <a:lnTo>
                  <a:pt x="545465" y="546100"/>
                </a:lnTo>
                <a:lnTo>
                  <a:pt x="0" y="5461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7" name="Изображение2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IAJAAChFwAA2gwAAPwa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544320" y="3841115"/>
            <a:ext cx="544830" cy="54546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Кривая4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UAAO8XAABiCAAAPhsAABAAAAAmAAAACAAAAP//////////"/>
              </a:ext>
            </a:extLst>
          </p:cNvSpPr>
          <p:nvPr/>
        </p:nvSpPr>
        <p:spPr>
          <a:xfrm>
            <a:off x="825500" y="3890645"/>
            <a:ext cx="537210" cy="537845"/>
          </a:xfrm>
          <a:custGeom>
            <a:avLst/>
            <a:gdLst/>
            <a:ahLst/>
            <a:cxnLst/>
            <a:rect l="0" t="0" r="537210" b="537845"/>
            <a:pathLst>
              <a:path w="537210" h="537845">
                <a:moveTo>
                  <a:pt x="0" y="0"/>
                </a:moveTo>
                <a:lnTo>
                  <a:pt x="537210" y="0"/>
                </a:lnTo>
                <a:lnTo>
                  <a:pt x="537210" y="537845"/>
                </a:lnTo>
                <a:lnTo>
                  <a:pt x="0" y="53784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9" name="Изображение3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O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BQFAADvFwAAYQgAAD0b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3890645"/>
            <a:ext cx="536575" cy="5372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" name="Прямоугольник2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GwUAALoMAAALFwAA/BAAABAgAAAmAAAACAAAAP//////////"/>
              </a:ext>
            </a:extLst>
          </p:cNvSpPr>
          <p:nvPr/>
        </p:nvSpPr>
        <p:spPr>
          <a:xfrm>
            <a:off x="829945" y="2068830"/>
            <a:ext cx="2915920" cy="692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4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&amp; слышно?</a:t>
            </a:r>
            <a:endParaRPr lang="en-us" sz="40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E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HEAAAAAAAAAsD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1755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MAAA0FAAB/NwAAYhAAABAAAAAmAAAACAAAAP//////////"/>
              </a:ext>
            </a:extLst>
          </p:cNvSpPr>
          <p:nvPr/>
        </p:nvSpPr>
        <p:spPr>
          <a:xfrm>
            <a:off x="500380" y="821055"/>
            <a:ext cx="8521065" cy="1842135"/>
          </a:xfrm>
          <a:custGeom>
            <a:avLst/>
            <a:gdLst/>
            <a:ahLst/>
            <a:cxnLst/>
            <a:rect l="0" t="0" r="8521065" b="1842135"/>
            <a:pathLst>
              <a:path w="8521065" h="1842135">
                <a:moveTo>
                  <a:pt x="0" y="0"/>
                </a:moveTo>
                <a:lnTo>
                  <a:pt x="8521065" y="0"/>
                </a:lnTo>
                <a:lnTo>
                  <a:pt x="8521065" y="1842135"/>
                </a:lnTo>
                <a:lnTo>
                  <a:pt x="0" y="184213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5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O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nAMAAFMFAADfFwAAgwgAABAgAAAmAAAACAAAAP//////////"/>
              </a:ext>
            </a:extLst>
          </p:cNvSpPr>
          <p:nvPr/>
        </p:nvSpPr>
        <p:spPr>
          <a:xfrm>
            <a:off x="586740" y="865505"/>
            <a:ext cx="3293745" cy="518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3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Защита проекта</a:t>
            </a:r>
            <a:endParaRPr lang="en-us" sz="30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6" name="Кривая3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4AMAAEINAABVEgAAhhsAABAAAAAmAAAACAAAAP//////////"/>
              </a:ext>
            </a:extLst>
          </p:cNvSpPr>
          <p:nvPr/>
        </p:nvSpPr>
        <p:spPr>
          <a:xfrm>
            <a:off x="629920" y="2155190"/>
            <a:ext cx="2350135" cy="2319020"/>
          </a:xfrm>
          <a:custGeom>
            <a:avLst/>
            <a:gdLst/>
            <a:ahLst/>
            <a:cxnLst/>
            <a:rect l="0" t="0" r="2350135" b="2319020"/>
            <a:pathLst>
              <a:path w="2350135" h="2319020">
                <a:moveTo>
                  <a:pt x="0" y="1159330"/>
                </a:moveTo>
                <a:cubicBezTo>
                  <a:pt x="0" y="518818"/>
                  <a:pt x="526251" y="0"/>
                  <a:pt x="1175247" y="0"/>
                </a:cubicBezTo>
                <a:cubicBezTo>
                  <a:pt x="1486967" y="0"/>
                  <a:pt x="1785728" y="122054"/>
                  <a:pt x="2006019" y="339518"/>
                </a:cubicBezTo>
                <a:cubicBezTo>
                  <a:pt x="2226311" y="556982"/>
                  <a:pt x="2350135" y="851856"/>
                  <a:pt x="2350135" y="1159330"/>
                </a:cubicBezTo>
                <a:cubicBezTo>
                  <a:pt x="2350135" y="1799842"/>
                  <a:pt x="1824243" y="2319020"/>
                  <a:pt x="1175247" y="2319020"/>
                </a:cubicBezTo>
                <a:cubicBezTo>
                  <a:pt x="526251" y="2319020"/>
                  <a:pt x="0" y="1799842"/>
                  <a:pt x="0" y="1159330"/>
                </a:cubicBez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7" name="Кривая4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/BcAAFUQAADDLgAANRMAAAAAAAAmAAAACAAAAP//////////"/>
              </a:ext>
            </a:extLst>
          </p:cNvSpPr>
          <p:nvPr/>
        </p:nvSpPr>
        <p:spPr>
          <a:xfrm>
            <a:off x="3898900" y="2654935"/>
            <a:ext cx="3702685" cy="467360"/>
          </a:xfrm>
          <a:custGeom>
            <a:avLst/>
            <a:gdLst/>
            <a:ahLst/>
            <a:cxnLst/>
            <a:rect l="0" t="0" r="3702685" b="467360"/>
            <a:pathLst>
              <a:path w="3702685" h="467360">
                <a:moveTo>
                  <a:pt x="0" y="0"/>
                </a:moveTo>
                <a:lnTo>
                  <a:pt x="3702685" y="0"/>
                </a:lnTo>
                <a:lnTo>
                  <a:pt x="3702685" y="467360"/>
                </a:lnTo>
                <a:lnTo>
                  <a:pt x="0" y="46736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8" name="Прямоугольник2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K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nAMAACMIAAAECwAAUwsAAAAgAAAmAAAACAAAAP//////////"/>
              </a:ext>
            </a:extLst>
          </p:cNvSpPr>
          <p:nvPr/>
        </p:nvSpPr>
        <p:spPr>
          <a:xfrm>
            <a:off x="586740" y="1322705"/>
            <a:ext cx="1203960" cy="518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lang="en-us" sz="2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Тема: Масштабируемая система для</a:t>
            </a:r>
          </a:p>
          <a:p>
            <a:pPr>
              <a:defRPr lang="en-us" sz="2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выполнения задач машинного обучения с</a:t>
            </a:r>
          </a:p>
          <a:p>
            <a:pPr>
              <a:defRPr lang="en-us" sz="2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использованием Kotlin</a:t>
            </a:r>
          </a:p>
        </p:txBody>
      </p:sp>
      <p:sp>
        <p:nvSpPr>
          <p:cNvPr id="9" name="Кривая5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/BcAAGwTAADKLgAAkxUAABAAAAAmAAAACAAAAP//////////"/>
              </a:ext>
            </a:extLst>
          </p:cNvSpPr>
          <p:nvPr/>
        </p:nvSpPr>
        <p:spPr>
          <a:xfrm>
            <a:off x="3898900" y="3157220"/>
            <a:ext cx="3707130" cy="349885"/>
          </a:xfrm>
          <a:custGeom>
            <a:avLst/>
            <a:gdLst/>
            <a:ahLst/>
            <a:cxnLst/>
            <a:rect l="0" t="0" r="3707130" b="349885"/>
            <a:pathLst>
              <a:path w="3707130" h="349885">
                <a:moveTo>
                  <a:pt x="0" y="0"/>
                </a:moveTo>
                <a:lnTo>
                  <a:pt x="3707130" y="0"/>
                </a:lnTo>
                <a:lnTo>
                  <a:pt x="3707130" y="349885"/>
                </a:lnTo>
                <a:lnTo>
                  <a:pt x="0" y="34988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0" name="Прямоугольник3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bBMAAMYQAAAEJQAAVRMAAAAAAAAmAAAACAAAAP//////////"/>
              </a:ext>
            </a:extLst>
          </p:cNvSpPr>
          <p:nvPr/>
        </p:nvSpPr>
        <p:spPr>
          <a:xfrm>
            <a:off x="3157220" y="2726690"/>
            <a:ext cx="2860040" cy="4159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>
              <a:defRPr lang="en-us" sz="2000" b="0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defRPr>
            </a:pPr>
            <a:r>
              <a:t>Филатов Алексей</a:t>
            </a:r>
          </a:p>
        </p:txBody>
      </p:sp>
      <p:sp>
        <p:nvSpPr>
          <p:cNvPr id="11" name="Прямоугольник4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bBMAAN0TAABOKgAAARUAAAAAAAAmAAAACAAAAP//////////"/>
              </a:ext>
            </a:extLst>
          </p:cNvSpPr>
          <p:nvPr/>
        </p:nvSpPr>
        <p:spPr>
          <a:xfrm>
            <a:off x="3157220" y="3228975"/>
            <a:ext cx="3719830" cy="1854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>
              <a:defRPr lang="en-us" sz="13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defRPr>
            </a:pPr>
            <a:r>
              <a:t>РСХБ-Автоматизация</a:t>
            </a:r>
          </a:p>
        </p:txBody>
      </p:sp>
      <p:pic>
        <p:nvPicPr>
          <p:cNvPr id="12" name="Изображение2"/>
          <p:cNvPicPr>
            <a:picLocks noChangeAspect="1"/>
            <a:extLst>
              <a:ext uri="smNativeData">
                <pr:smNativeData xmlns:pr="smNativeData" xmlns="smNativeData" val="SMDATA_17_Kv6qaBMAAAAlAAAAEQAAAC8B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CAgIC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J8GAABxDgAAxhAAAEcb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2347595"/>
            <a:ext cx="1650365" cy="208661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AAAAAAAAAAAPz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UAMAACUCAAC7NwAAOAYAABAAAAAmAAAACAAAAP//////////"/>
              </a:ext>
            </a:extLst>
          </p:cNvSpPr>
          <p:nvPr/>
        </p:nvSpPr>
        <p:spPr>
          <a:xfrm>
            <a:off x="538480" y="348615"/>
            <a:ext cx="8521065" cy="662305"/>
          </a:xfrm>
          <a:custGeom>
            <a:avLst/>
            <a:gdLst/>
            <a:ahLst/>
            <a:cxnLst/>
            <a:rect l="0" t="0" r="8521065" b="662305"/>
            <a:pathLst>
              <a:path w="8521065" h="662305">
                <a:moveTo>
                  <a:pt x="0" y="0"/>
                </a:moveTo>
                <a:lnTo>
                  <a:pt x="8521065" y="0"/>
                </a:lnTo>
                <a:lnTo>
                  <a:pt x="8521065" y="662305"/>
                </a:lnTo>
                <a:lnTo>
                  <a:pt x="0" y="66230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5" name="Изображение2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K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JoGAABGBwAAIBwAAEo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" y="1182370"/>
            <a:ext cx="3498850" cy="4902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Кривая3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J/f38A////A8zMzADAwP8Af39/AAAAAAAAAAAAAAAAAAAAAAAAAAAAIQAAABgAAAAUAAAA9AYAAIEHAADGGwAA0gkAABAAAAAmAAAACAAAAP//////////"/>
              </a:ext>
            </a:extLst>
          </p:cNvSpPr>
          <p:nvPr/>
        </p:nvSpPr>
        <p:spPr>
          <a:xfrm>
            <a:off x="1130300" y="1219835"/>
            <a:ext cx="3384550" cy="376555"/>
          </a:xfrm>
          <a:custGeom>
            <a:avLst/>
            <a:gdLst/>
            <a:ahLst/>
            <a:cxnLst/>
            <a:rect l="0" t="0" r="3384550" b="376555"/>
            <a:pathLst>
              <a:path w="3384550" h="376555">
                <a:moveTo>
                  <a:pt x="0" y="62639"/>
                </a:moveTo>
                <a:cubicBezTo>
                  <a:pt x="0" y="28079"/>
                  <a:pt x="28076" y="0"/>
                  <a:pt x="62630" y="0"/>
                </a:cubicBezTo>
                <a:lnTo>
                  <a:pt x="3321920" y="0"/>
                </a:lnTo>
                <a:cubicBezTo>
                  <a:pt x="3338477" y="0"/>
                  <a:pt x="3354675" y="6479"/>
                  <a:pt x="3366193" y="18359"/>
                </a:cubicBezTo>
                <a:cubicBezTo>
                  <a:pt x="3378071" y="30239"/>
                  <a:pt x="3384550" y="46079"/>
                  <a:pt x="3384550" y="62639"/>
                </a:cubicBezTo>
                <a:lnTo>
                  <a:pt x="3384550" y="313915"/>
                </a:lnTo>
                <a:cubicBezTo>
                  <a:pt x="3384550" y="348475"/>
                  <a:pt x="3356474" y="376555"/>
                  <a:pt x="3321920" y="376555"/>
                </a:cubicBezTo>
                <a:lnTo>
                  <a:pt x="62630" y="376555"/>
                </a:lnTo>
                <a:cubicBezTo>
                  <a:pt x="28076" y="376555"/>
                  <a:pt x="0" y="348475"/>
                  <a:pt x="0" y="313915"/>
                </a:cubicBezTo>
                <a:lnTo>
                  <a:pt x="0" y="62639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7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1wMAAGkCAAA3FQAAtgUAABAgAAAmAAAACAAAAP//////////"/>
              </a:ext>
            </a:extLst>
          </p:cNvSpPr>
          <p:nvPr/>
        </p:nvSpPr>
        <p:spPr>
          <a:xfrm>
            <a:off x="624205" y="391795"/>
            <a:ext cx="2824480" cy="5365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31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План защиты</a:t>
            </a:r>
            <a:endParaRPr lang="en-us" sz="31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8" name="Изображение3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JoGAADXCgAAIBwAANsN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" y="1762125"/>
            <a:ext cx="3498850" cy="4902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Кривая4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J/f38A////A8zMzADAwP8Af39/AAAAAAAAAAAAAAAAAAAAAAAAAAAAIQAAABgAAAAUAAAA9AYAABMLAADGGwAAZA0AABAAAAAmAAAACAAAAP//////////"/>
              </a:ext>
            </a:extLst>
          </p:cNvSpPr>
          <p:nvPr/>
        </p:nvSpPr>
        <p:spPr>
          <a:xfrm>
            <a:off x="1130300" y="1800225"/>
            <a:ext cx="3384550" cy="376555"/>
          </a:xfrm>
          <a:custGeom>
            <a:avLst/>
            <a:gdLst/>
            <a:ahLst/>
            <a:cxnLst/>
            <a:rect l="0" t="0" r="3384550" b="376555"/>
            <a:pathLst>
              <a:path w="3384550" h="376555">
                <a:moveTo>
                  <a:pt x="0" y="62639"/>
                </a:moveTo>
                <a:cubicBezTo>
                  <a:pt x="0" y="27719"/>
                  <a:pt x="28076" y="0"/>
                  <a:pt x="62630" y="0"/>
                </a:cubicBezTo>
                <a:lnTo>
                  <a:pt x="3321920" y="0"/>
                </a:lnTo>
                <a:cubicBezTo>
                  <a:pt x="3338477" y="0"/>
                  <a:pt x="3354675" y="6479"/>
                  <a:pt x="3366193" y="18359"/>
                </a:cubicBezTo>
                <a:cubicBezTo>
                  <a:pt x="3378071" y="29879"/>
                  <a:pt x="3384550" y="45719"/>
                  <a:pt x="3384550" y="62639"/>
                </a:cubicBezTo>
                <a:lnTo>
                  <a:pt x="3384550" y="313555"/>
                </a:lnTo>
                <a:cubicBezTo>
                  <a:pt x="3384550" y="348475"/>
                  <a:pt x="3356474" y="376555"/>
                  <a:pt x="3321920" y="376555"/>
                </a:cubicBezTo>
                <a:lnTo>
                  <a:pt x="62630" y="376555"/>
                </a:lnTo>
                <a:cubicBezTo>
                  <a:pt x="28076" y="376555"/>
                  <a:pt x="0" y="348475"/>
                  <a:pt x="0" y="313555"/>
                </a:cubicBezTo>
                <a:lnTo>
                  <a:pt x="0" y="62639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0" name="Прямоугольник2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EAgAAOYHAAB5DwAAZAkAABAgAAAmAAAACAAAAP//////////"/>
              </a:ext>
            </a:extLst>
          </p:cNvSpPr>
          <p:nvPr/>
        </p:nvSpPr>
        <p:spPr>
          <a:xfrm>
            <a:off x="1310640" y="1283970"/>
            <a:ext cx="1204595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Цели проекта</a:t>
            </a:r>
            <a:endParaRPr lang="en-us" sz="1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11" name="Изображение4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K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JoGAABpDgAAIBwAAG0R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" y="2342515"/>
            <a:ext cx="3498850" cy="4902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Кривая5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J/f38A////A8zMzADAwP8Af39/AAAAAAAAAAAAAAAAAAAAAAAAAAAAIQAAABgAAAAUAAAA9AYAAKUOAADGGwAA9hAAABAAAAAmAAAACAAAAP//////////"/>
              </a:ext>
            </a:extLst>
          </p:cNvSpPr>
          <p:nvPr/>
        </p:nvSpPr>
        <p:spPr>
          <a:xfrm>
            <a:off x="1130300" y="2380615"/>
            <a:ext cx="3384550" cy="376555"/>
          </a:xfrm>
          <a:custGeom>
            <a:avLst/>
            <a:gdLst/>
            <a:ahLst/>
            <a:cxnLst/>
            <a:rect l="0" t="0" r="3384550" b="376555"/>
            <a:pathLst>
              <a:path w="3384550" h="376555">
                <a:moveTo>
                  <a:pt x="0" y="62639"/>
                </a:moveTo>
                <a:cubicBezTo>
                  <a:pt x="0" y="28079"/>
                  <a:pt x="28076" y="0"/>
                  <a:pt x="62630" y="0"/>
                </a:cubicBezTo>
                <a:lnTo>
                  <a:pt x="3321920" y="0"/>
                </a:lnTo>
                <a:cubicBezTo>
                  <a:pt x="3338477" y="0"/>
                  <a:pt x="3354675" y="6479"/>
                  <a:pt x="3366193" y="18359"/>
                </a:cubicBezTo>
                <a:cubicBezTo>
                  <a:pt x="3378071" y="30239"/>
                  <a:pt x="3384550" y="46079"/>
                  <a:pt x="3384550" y="62639"/>
                </a:cubicBezTo>
                <a:lnTo>
                  <a:pt x="3384550" y="313915"/>
                </a:lnTo>
                <a:cubicBezTo>
                  <a:pt x="3384550" y="348475"/>
                  <a:pt x="3356474" y="376555"/>
                  <a:pt x="3321920" y="376555"/>
                </a:cubicBezTo>
                <a:lnTo>
                  <a:pt x="62630" y="376555"/>
                </a:lnTo>
                <a:cubicBezTo>
                  <a:pt x="28076" y="376555"/>
                  <a:pt x="0" y="348475"/>
                  <a:pt x="0" y="313915"/>
                </a:cubicBezTo>
                <a:lnTo>
                  <a:pt x="0" y="62639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3" name="Прямоугольник3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EAgAAHgLAAD7EgAA9gwAABAgAAAmAAAACAAAAP//////////"/>
              </a:ext>
            </a:extLst>
          </p:cNvSpPr>
          <p:nvPr/>
        </p:nvSpPr>
        <p:spPr>
          <a:xfrm>
            <a:off x="1310640" y="1864360"/>
            <a:ext cx="1774825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Что планировалось </a:t>
            </a:r>
            <a:endParaRPr lang="en-us" sz="1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14" name="Изображение5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JoGAAAREgAAIBwAABUV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" y="2936875"/>
            <a:ext cx="3498850" cy="4902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" name="Кривая6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J/f38A////A8zMzADAwP8Af39/AAAAAAAAAAAAAAAAAAAAAAAAAAAAIQAAABgAAAAUAAAA9AYAAE0SAADGGwAAnhQAABAAAAAmAAAACAAAAP//////////"/>
              </a:ext>
            </a:extLst>
          </p:cNvSpPr>
          <p:nvPr/>
        </p:nvSpPr>
        <p:spPr>
          <a:xfrm>
            <a:off x="1130300" y="2974975"/>
            <a:ext cx="3384550" cy="376555"/>
          </a:xfrm>
          <a:custGeom>
            <a:avLst/>
            <a:gdLst/>
            <a:ahLst/>
            <a:cxnLst/>
            <a:rect l="0" t="0" r="3384550" b="376555"/>
            <a:pathLst>
              <a:path w="3384550" h="376555">
                <a:moveTo>
                  <a:pt x="0" y="62639"/>
                </a:moveTo>
                <a:cubicBezTo>
                  <a:pt x="0" y="28079"/>
                  <a:pt x="28076" y="0"/>
                  <a:pt x="62630" y="0"/>
                </a:cubicBezTo>
                <a:lnTo>
                  <a:pt x="3321920" y="0"/>
                </a:lnTo>
                <a:cubicBezTo>
                  <a:pt x="3338477" y="0"/>
                  <a:pt x="3354675" y="6479"/>
                  <a:pt x="3366193" y="18359"/>
                </a:cubicBezTo>
                <a:cubicBezTo>
                  <a:pt x="3378071" y="29879"/>
                  <a:pt x="3384550" y="46079"/>
                  <a:pt x="3384550" y="62639"/>
                </a:cubicBezTo>
                <a:lnTo>
                  <a:pt x="3384550" y="313555"/>
                </a:lnTo>
                <a:cubicBezTo>
                  <a:pt x="3384550" y="348475"/>
                  <a:pt x="3356474" y="376555"/>
                  <a:pt x="3321920" y="376555"/>
                </a:cubicBezTo>
                <a:lnTo>
                  <a:pt x="62630" y="376555"/>
                </a:lnTo>
                <a:cubicBezTo>
                  <a:pt x="28076" y="376555"/>
                  <a:pt x="0" y="348475"/>
                  <a:pt x="0" y="313555"/>
                </a:cubicBezTo>
                <a:lnTo>
                  <a:pt x="0" y="62639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6" name="Прямоугольник4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EAgAAAkPAACzEgAAiBAAABAgAAAmAAAACAAAAP//////////"/>
              </a:ext>
            </a:extLst>
          </p:cNvSpPr>
          <p:nvPr/>
        </p:nvSpPr>
        <p:spPr>
          <a:xfrm>
            <a:off x="1310640" y="2444115"/>
            <a:ext cx="1729105" cy="2432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Схемы/архитектура</a:t>
            </a:r>
            <a:endParaRPr lang="en-us" sz="1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7" name="Кривая7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UAAKkIAAD1BgAAPAwAABAAAAAmAAAACAAAAP//////////"/>
              </a:ext>
            </a:extLst>
          </p:cNvSpPr>
          <p:nvPr/>
        </p:nvSpPr>
        <p:spPr>
          <a:xfrm>
            <a:off x="891540" y="1407795"/>
            <a:ext cx="239395" cy="581025"/>
          </a:xfrm>
          <a:custGeom>
            <a:avLst/>
            <a:gdLst/>
            <a:ahLst/>
            <a:cxnLst/>
            <a:rect l="0" t="0" r="239395" b="581025"/>
            <a:pathLst>
              <a:path w="239395" h="581025">
                <a:moveTo>
                  <a:pt x="239034" y="0"/>
                </a:moveTo>
                <a:lnTo>
                  <a:pt x="0" y="0"/>
                </a:lnTo>
                <a:lnTo>
                  <a:pt x="0" y="581025"/>
                </a:lnTo>
                <a:lnTo>
                  <a:pt x="239395" y="581025"/>
                </a:lnTo>
                <a:lnTo>
                  <a:pt x="239395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8" name="Кривая8"/>
          <p:cNvSpPr>
            <a:extLst>
              <a:ext uri="smNativeData">
                <pr:smNativeData xmlns:pr="smNativeData" xmlns="smNativeData" val="SMDATA_15_Kv6qaBMAAAAlAAAACwAAAA0AAAAABwAAAAcAAAAHAAAABw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JhX8wAPAAAAAQAAACMAAAAjAAAAIwAAAB4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JhX8wB/f38A////A8zMzADAwP8Af39/AAAAAAAAAAAAAAAAAAAAAAAAAAAAIQAAABgAAAAUAAAAfAUAAKkIAAD1BgAAPAwAABAAAAAmAAAACAAAAP//////////"/>
              </a:ext>
            </a:extLst>
          </p:cNvSpPr>
          <p:nvPr/>
        </p:nvSpPr>
        <p:spPr>
          <a:xfrm>
            <a:off x="891540" y="1407795"/>
            <a:ext cx="239395" cy="581025"/>
          </a:xfrm>
          <a:custGeom>
            <a:avLst/>
            <a:gdLst/>
            <a:ahLst/>
            <a:cxnLst/>
            <a:rect l="0" t="0" r="239395" b="581025"/>
            <a:pathLst>
              <a:path w="239395" h="581025" fill="none">
                <a:moveTo>
                  <a:pt x="239034" y="0"/>
                </a:moveTo>
                <a:lnTo>
                  <a:pt x="0" y="0"/>
                </a:lnTo>
                <a:lnTo>
                  <a:pt x="0" y="581025"/>
                </a:lnTo>
                <a:lnTo>
                  <a:pt x="239395" y="581025"/>
                </a:lnTo>
              </a:path>
            </a:pathLst>
          </a:custGeom>
          <a:noFill/>
          <a:ln w="9525" cap="flat" cmpd="sng" algn="ctr">
            <a:solidFill>
              <a:srgbClr val="9857F3"/>
            </a:solidFill>
            <a:prstDash val="solid"/>
            <a:headEnd type="none"/>
            <a:tailEnd type="none"/>
          </a:ln>
          <a:effectLst/>
        </p:spPr>
        <p:txBody>
          <a:bodyPr vert="horz" wrap="square" lIns="4445" tIns="4445" rIns="4445" bIns="4445" numCol="1" spcCol="215900" anchor="t"/>
          <a:lstStyle/>
          <a:p>
            <a:pPr/>
            <a:endParaRPr lang="en-us" sz="2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9" name="Кривая9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UAADsMAAD1BgAAzg8AABAAAAAmAAAACAAAAP//////////"/>
              </a:ext>
            </a:extLst>
          </p:cNvSpPr>
          <p:nvPr/>
        </p:nvSpPr>
        <p:spPr>
          <a:xfrm>
            <a:off x="891540" y="1988185"/>
            <a:ext cx="239395" cy="581025"/>
          </a:xfrm>
          <a:custGeom>
            <a:avLst/>
            <a:gdLst/>
            <a:ahLst/>
            <a:cxnLst/>
            <a:rect l="0" t="0" r="239395" b="581025"/>
            <a:pathLst>
              <a:path w="239395" h="581025">
                <a:moveTo>
                  <a:pt x="239034" y="0"/>
                </a:moveTo>
                <a:lnTo>
                  <a:pt x="0" y="0"/>
                </a:lnTo>
                <a:lnTo>
                  <a:pt x="0" y="581025"/>
                </a:lnTo>
                <a:lnTo>
                  <a:pt x="239395" y="581025"/>
                </a:lnTo>
                <a:lnTo>
                  <a:pt x="239395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20" name="Кривая10"/>
          <p:cNvSpPr>
            <a:extLst>
              <a:ext uri="smNativeData">
                <pr:smNativeData xmlns:pr="smNativeData" xmlns="smNativeData" val="SMDATA_15_Kv6qaBMAAAAlAAAACwAAAA0AAAAABwAAAAcAAAAHAAAABw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JhX8wAPAAAAAQAAACMAAAAjAAAAIwAAAB4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JhX8wB/f38A////A8zMzADAwP8Af39/AAAAAAAAAAAAAAAAAAAAAAAAAAAAIQAAABgAAAAUAAAAfAUAADsMAAD1BgAAzg8AABAAAAAmAAAACAAAAP//////////"/>
              </a:ext>
            </a:extLst>
          </p:cNvSpPr>
          <p:nvPr/>
        </p:nvSpPr>
        <p:spPr>
          <a:xfrm>
            <a:off x="891540" y="1988185"/>
            <a:ext cx="239395" cy="581025"/>
          </a:xfrm>
          <a:custGeom>
            <a:avLst/>
            <a:gdLst/>
            <a:ahLst/>
            <a:cxnLst/>
            <a:rect l="0" t="0" r="239395" b="581025"/>
            <a:pathLst>
              <a:path w="239395" h="581025" fill="none">
                <a:moveTo>
                  <a:pt x="239034" y="0"/>
                </a:moveTo>
                <a:lnTo>
                  <a:pt x="0" y="0"/>
                </a:lnTo>
                <a:lnTo>
                  <a:pt x="0" y="581025"/>
                </a:lnTo>
                <a:lnTo>
                  <a:pt x="239395" y="581025"/>
                </a:lnTo>
              </a:path>
            </a:pathLst>
          </a:custGeom>
          <a:noFill/>
          <a:ln w="9525" cap="flat" cmpd="sng" algn="ctr">
            <a:solidFill>
              <a:srgbClr val="9857F3"/>
            </a:solidFill>
            <a:prstDash val="solid"/>
            <a:headEnd type="none"/>
            <a:tailEnd type="none"/>
          </a:ln>
          <a:effectLst/>
        </p:spPr>
        <p:txBody>
          <a:bodyPr vert="horz" wrap="square" lIns="4445" tIns="4445" rIns="4445" bIns="4445" numCol="1" spcCol="215900" anchor="t"/>
          <a:lstStyle/>
          <a:p>
            <a:pPr/>
            <a:endParaRPr lang="en-us" sz="2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21" name="Кривая1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UAAM0PAAD1BgAAdhMAABAAAAAmAAAACAAAAP//////////"/>
              </a:ext>
            </a:extLst>
          </p:cNvSpPr>
          <p:nvPr/>
        </p:nvSpPr>
        <p:spPr>
          <a:xfrm>
            <a:off x="891540" y="2568575"/>
            <a:ext cx="239395" cy="594995"/>
          </a:xfrm>
          <a:custGeom>
            <a:avLst/>
            <a:gdLst/>
            <a:ahLst/>
            <a:cxnLst/>
            <a:rect l="0" t="0" r="239395" b="594995"/>
            <a:pathLst>
              <a:path w="239395" h="594995">
                <a:moveTo>
                  <a:pt x="239034" y="0"/>
                </a:moveTo>
                <a:lnTo>
                  <a:pt x="0" y="0"/>
                </a:lnTo>
                <a:lnTo>
                  <a:pt x="0" y="594995"/>
                </a:lnTo>
                <a:lnTo>
                  <a:pt x="239395" y="594995"/>
                </a:lnTo>
                <a:lnTo>
                  <a:pt x="239395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22" name="Кривая12"/>
          <p:cNvSpPr>
            <a:extLst>
              <a:ext uri="smNativeData">
                <pr:smNativeData xmlns:pr="smNativeData" xmlns="smNativeData" val="SMDATA_15_Kv6qaBMAAAAlAAAACwAAAA0AAAAABwAAAAcAAAAHAAAABw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JhX8wAPAAAAAQAAACMAAAAjAAAAIwAAAB4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JhX8wB/f38A////A8zMzADAwP8Af39/AAAAAAAAAAAAAAAAAAAAAAAAAAAAIQAAABgAAAAUAAAAfAUAAM0PAAD1BgAAdhMAABAAAAAmAAAACAAAAP//////////"/>
              </a:ext>
            </a:extLst>
          </p:cNvSpPr>
          <p:nvPr/>
        </p:nvSpPr>
        <p:spPr>
          <a:xfrm>
            <a:off x="891540" y="2568575"/>
            <a:ext cx="239395" cy="594995"/>
          </a:xfrm>
          <a:custGeom>
            <a:avLst/>
            <a:gdLst/>
            <a:ahLst/>
            <a:cxnLst/>
            <a:rect l="0" t="0" r="239395" b="594995"/>
            <a:pathLst>
              <a:path w="239395" h="594995" fill="none">
                <a:moveTo>
                  <a:pt x="239034" y="0"/>
                </a:moveTo>
                <a:lnTo>
                  <a:pt x="0" y="0"/>
                </a:lnTo>
                <a:lnTo>
                  <a:pt x="0" y="594995"/>
                </a:lnTo>
                <a:lnTo>
                  <a:pt x="239395" y="594995"/>
                </a:lnTo>
              </a:path>
            </a:pathLst>
          </a:custGeom>
          <a:noFill/>
          <a:ln w="9525" cap="flat" cmpd="sng" algn="ctr">
            <a:solidFill>
              <a:srgbClr val="9857F3"/>
            </a:solidFill>
            <a:prstDash val="solid"/>
            <a:headEnd type="none"/>
            <a:tailEnd type="none"/>
          </a:ln>
          <a:effectLst/>
        </p:spPr>
        <p:txBody>
          <a:bodyPr vert="horz" wrap="square" lIns="4445" tIns="4445" rIns="4445" bIns="4445" numCol="1" spcCol="215900" anchor="t"/>
          <a:lstStyle/>
          <a:p>
            <a:pPr/>
            <a:endParaRPr lang="en-us" sz="2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23" name="Кривая13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UAAHUTAAD1BgAAsxYAABAAAAAmAAAACAAAAP//////////"/>
              </a:ext>
            </a:extLst>
          </p:cNvSpPr>
          <p:nvPr/>
        </p:nvSpPr>
        <p:spPr>
          <a:xfrm>
            <a:off x="891540" y="3162935"/>
            <a:ext cx="239395" cy="527050"/>
          </a:xfrm>
          <a:custGeom>
            <a:avLst/>
            <a:gdLst/>
            <a:ahLst/>
            <a:cxnLst/>
            <a:rect l="0" t="0" r="239395" b="527050"/>
            <a:pathLst>
              <a:path w="239395" h="527050">
                <a:moveTo>
                  <a:pt x="239034" y="0"/>
                </a:moveTo>
                <a:lnTo>
                  <a:pt x="0" y="0"/>
                </a:lnTo>
                <a:lnTo>
                  <a:pt x="0" y="527050"/>
                </a:lnTo>
                <a:lnTo>
                  <a:pt x="239395" y="527050"/>
                </a:lnTo>
                <a:lnTo>
                  <a:pt x="239395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24" name="Кривая14"/>
          <p:cNvSpPr>
            <a:extLst>
              <a:ext uri="smNativeData">
                <pr:smNativeData xmlns:pr="smNativeData" xmlns="smNativeData" val="SMDATA_15_Kv6qaBMAAAAlAAAACwAAAA0AAAAABwAAAAcAAAAHAAAABw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JhX8wAPAAAAAQAAACMAAAAjAAAAIwAAAB4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JhX8wB/f38A////A8zMzADAwP8Af39/AAAAAAAAAAAAAAAAAAAAAAAAAAAAIQAAABgAAAAUAAAAfAUAAHUTAAD1BgAAsxYAABAAAAAmAAAACAAAAP//////////"/>
              </a:ext>
            </a:extLst>
          </p:cNvSpPr>
          <p:nvPr/>
        </p:nvSpPr>
        <p:spPr>
          <a:xfrm>
            <a:off x="891540" y="3162935"/>
            <a:ext cx="239395" cy="527050"/>
          </a:xfrm>
          <a:custGeom>
            <a:avLst/>
            <a:gdLst/>
            <a:ahLst/>
            <a:cxnLst/>
            <a:rect l="0" t="0" r="239395" b="527050"/>
            <a:pathLst>
              <a:path w="239395" h="527050" fill="none">
                <a:moveTo>
                  <a:pt x="239034" y="0"/>
                </a:moveTo>
                <a:lnTo>
                  <a:pt x="0" y="0"/>
                </a:lnTo>
                <a:lnTo>
                  <a:pt x="0" y="527050"/>
                </a:lnTo>
                <a:lnTo>
                  <a:pt x="239395" y="527050"/>
                </a:lnTo>
              </a:path>
            </a:pathLst>
          </a:custGeom>
          <a:noFill/>
          <a:ln w="9525" cap="flat" cmpd="sng" algn="ctr">
            <a:solidFill>
              <a:srgbClr val="9857F3"/>
            </a:solidFill>
            <a:prstDash val="solid"/>
            <a:headEnd type="none"/>
            <a:tailEnd type="none"/>
          </a:ln>
          <a:effectLst/>
        </p:spPr>
        <p:txBody>
          <a:bodyPr vert="horz" wrap="square" lIns="4445" tIns="4445" rIns="4445" bIns="4445" numCol="1" spcCol="215900" anchor="t"/>
          <a:lstStyle/>
          <a:p>
            <a:pPr/>
            <a:endParaRPr lang="en-us" sz="2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25" name="Изображение6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JoGAABOFQAAIBwAAFM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" y="3463290"/>
            <a:ext cx="3498850" cy="4908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6" name="Кривая15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J/f38A////A8zMzADAwP8Af39/AAAAAAAAAAAAAAAAAAAAAAAAAAAAIQAAABgAAAAUAAAA9AYAAIsVAADGGwAA3BcAABAAAAAmAAAACAAAAP//////////"/>
              </a:ext>
            </a:extLst>
          </p:cNvSpPr>
          <p:nvPr/>
        </p:nvSpPr>
        <p:spPr>
          <a:xfrm>
            <a:off x="1130300" y="3502025"/>
            <a:ext cx="3384550" cy="376555"/>
          </a:xfrm>
          <a:custGeom>
            <a:avLst/>
            <a:gdLst/>
            <a:ahLst/>
            <a:cxnLst/>
            <a:rect l="0" t="0" r="3384550" b="376555"/>
            <a:pathLst>
              <a:path w="3384550" h="376555">
                <a:moveTo>
                  <a:pt x="0" y="62639"/>
                </a:moveTo>
                <a:cubicBezTo>
                  <a:pt x="0" y="28079"/>
                  <a:pt x="28076" y="0"/>
                  <a:pt x="62630" y="0"/>
                </a:cubicBezTo>
                <a:lnTo>
                  <a:pt x="3321920" y="0"/>
                </a:lnTo>
                <a:cubicBezTo>
                  <a:pt x="3338477" y="0"/>
                  <a:pt x="3354675" y="6479"/>
                  <a:pt x="3366193" y="18359"/>
                </a:cubicBezTo>
                <a:cubicBezTo>
                  <a:pt x="3378071" y="29879"/>
                  <a:pt x="3384550" y="46079"/>
                  <a:pt x="3384550" y="62639"/>
                </a:cubicBezTo>
                <a:lnTo>
                  <a:pt x="3384550" y="313555"/>
                </a:lnTo>
                <a:cubicBezTo>
                  <a:pt x="3384550" y="348475"/>
                  <a:pt x="3356474" y="376555"/>
                  <a:pt x="3321920" y="376555"/>
                </a:cubicBezTo>
                <a:lnTo>
                  <a:pt x="62630" y="376555"/>
                </a:lnTo>
                <a:cubicBezTo>
                  <a:pt x="28076" y="376555"/>
                  <a:pt x="0" y="348475"/>
                  <a:pt x="0" y="313555"/>
                </a:cubicBezTo>
                <a:lnTo>
                  <a:pt x="0" y="62639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27" name="Прямоугольник5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EAgAALISAACgFgAAMBQAABAgAAAmAAAACAAAAP//////////"/>
              </a:ext>
            </a:extLst>
          </p:cNvSpPr>
          <p:nvPr/>
        </p:nvSpPr>
        <p:spPr>
          <a:xfrm>
            <a:off x="1310640" y="3039110"/>
            <a:ext cx="2367280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Используемые технологии</a:t>
            </a:r>
            <a:endParaRPr lang="en-us" sz="1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28" name="Изображение7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JoGAACMGAAAIBwAAJAb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" y="3990340"/>
            <a:ext cx="3498850" cy="4902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9" name="Кривая16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J/f38A////A8zMzADAwP8Af39/AAAAAAAAAAAAAAAAAAAAAAAAAAAAIQAAABgAAAAUAAAA9AYAAMcYAADGGwAAGBsAABAAAAAmAAAACAAAAP//////////"/>
              </a:ext>
            </a:extLst>
          </p:cNvSpPr>
          <p:nvPr/>
        </p:nvSpPr>
        <p:spPr>
          <a:xfrm>
            <a:off x="1130300" y="4027805"/>
            <a:ext cx="3384550" cy="376555"/>
          </a:xfrm>
          <a:custGeom>
            <a:avLst/>
            <a:gdLst/>
            <a:ahLst/>
            <a:cxnLst/>
            <a:rect l="0" t="0" r="3384550" b="376555"/>
            <a:pathLst>
              <a:path w="3384550" h="376555">
                <a:moveTo>
                  <a:pt x="0" y="62999"/>
                </a:moveTo>
                <a:cubicBezTo>
                  <a:pt x="0" y="28079"/>
                  <a:pt x="28076" y="0"/>
                  <a:pt x="62630" y="0"/>
                </a:cubicBezTo>
                <a:lnTo>
                  <a:pt x="3321920" y="0"/>
                </a:lnTo>
                <a:cubicBezTo>
                  <a:pt x="3338477" y="0"/>
                  <a:pt x="3354675" y="6839"/>
                  <a:pt x="3366193" y="18359"/>
                </a:cubicBezTo>
                <a:cubicBezTo>
                  <a:pt x="3378071" y="30239"/>
                  <a:pt x="3384550" y="46079"/>
                  <a:pt x="3384550" y="62999"/>
                </a:cubicBezTo>
                <a:lnTo>
                  <a:pt x="3384550" y="313915"/>
                </a:lnTo>
                <a:cubicBezTo>
                  <a:pt x="3384550" y="348475"/>
                  <a:pt x="3356474" y="376555"/>
                  <a:pt x="3321920" y="376555"/>
                </a:cubicBezTo>
                <a:lnTo>
                  <a:pt x="62630" y="376555"/>
                </a:lnTo>
                <a:cubicBezTo>
                  <a:pt x="28076" y="376555"/>
                  <a:pt x="0" y="348475"/>
                  <a:pt x="0" y="313915"/>
                </a:cubicBezTo>
                <a:lnTo>
                  <a:pt x="0" y="62999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30" name="Прямоугольник6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EAgAAO8VAACxEAAAbhcAABAgAAAmAAAACAAAAP//////////"/>
              </a:ext>
            </a:extLst>
          </p:cNvSpPr>
          <p:nvPr/>
        </p:nvSpPr>
        <p:spPr>
          <a:xfrm>
            <a:off x="1310640" y="3565525"/>
            <a:ext cx="1402715" cy="2432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Что получилось</a:t>
            </a:r>
            <a:endParaRPr lang="en-us" sz="1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31" name="Кривая17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UAALIWAAD1BgAA8RkAABAAAAAmAAAACAAAAP//////////"/>
              </a:ext>
            </a:extLst>
          </p:cNvSpPr>
          <p:nvPr/>
        </p:nvSpPr>
        <p:spPr>
          <a:xfrm>
            <a:off x="891540" y="3689350"/>
            <a:ext cx="239395" cy="527685"/>
          </a:xfrm>
          <a:custGeom>
            <a:avLst/>
            <a:gdLst/>
            <a:ahLst/>
            <a:cxnLst/>
            <a:rect l="0" t="0" r="239395" b="527685"/>
            <a:pathLst>
              <a:path w="239395" h="527685">
                <a:moveTo>
                  <a:pt x="239034" y="0"/>
                </a:moveTo>
                <a:lnTo>
                  <a:pt x="0" y="0"/>
                </a:lnTo>
                <a:lnTo>
                  <a:pt x="0" y="527685"/>
                </a:lnTo>
                <a:lnTo>
                  <a:pt x="239395" y="527685"/>
                </a:lnTo>
                <a:lnTo>
                  <a:pt x="239395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32" name="Кривая18"/>
          <p:cNvSpPr>
            <a:extLst>
              <a:ext uri="smNativeData">
                <pr:smNativeData xmlns:pr="smNativeData" xmlns="smNativeData" val="SMDATA_15_Kv6qaBMAAAAlAAAACwAAAA0AAAAABwAAAAcAAAAHAAAABw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JhX8wAPAAAAAQAAACMAAAAjAAAAIwAAAB4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0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JhX8wB/f38A////A8zMzADAwP8Af39/AAAAAAAAAAAAAAAAAAAAAAAAAAAAIQAAABgAAAAUAAAAfAUAALIWAAD1BgAA8RkAABAAAAAmAAAACAAAAP//////////"/>
              </a:ext>
            </a:extLst>
          </p:cNvSpPr>
          <p:nvPr/>
        </p:nvSpPr>
        <p:spPr>
          <a:xfrm>
            <a:off x="891540" y="3689350"/>
            <a:ext cx="239395" cy="527685"/>
          </a:xfrm>
          <a:custGeom>
            <a:avLst/>
            <a:gdLst/>
            <a:ahLst/>
            <a:cxnLst/>
            <a:rect l="0" t="0" r="239395" b="527685"/>
            <a:pathLst>
              <a:path w="239395" h="527685" fill="none">
                <a:moveTo>
                  <a:pt x="239034" y="0"/>
                </a:moveTo>
                <a:lnTo>
                  <a:pt x="0" y="0"/>
                </a:lnTo>
                <a:lnTo>
                  <a:pt x="0" y="527685"/>
                </a:lnTo>
                <a:lnTo>
                  <a:pt x="239395" y="527685"/>
                </a:lnTo>
              </a:path>
            </a:pathLst>
          </a:custGeom>
          <a:noFill/>
          <a:ln w="9525" cap="flat" cmpd="sng" algn="ctr">
            <a:solidFill>
              <a:srgbClr val="9857F3"/>
            </a:solidFill>
            <a:prstDash val="solid"/>
            <a:headEnd type="none"/>
            <a:tailEnd type="none"/>
          </a:ln>
          <a:effectLst/>
        </p:spPr>
        <p:txBody>
          <a:bodyPr vert="horz" wrap="square" lIns="4445" tIns="4445" rIns="4445" bIns="4445" numCol="1" spcCol="215900" anchor="t"/>
          <a:lstStyle/>
          <a:p>
            <a:pPr/>
            <a:endParaRPr lang="en-us" sz="2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33" name="Прямоугольник7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EAgAAC0ZAABqDAAAqxoAABAgAAAmAAAACAAAAP//////////"/>
              </a:ext>
            </a:extLst>
          </p:cNvSpPr>
          <p:nvPr/>
        </p:nvSpPr>
        <p:spPr>
          <a:xfrm>
            <a:off x="1310640" y="4092575"/>
            <a:ext cx="707390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Выводы</a:t>
            </a:r>
            <a:endParaRPr lang="en-us" sz="1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K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AAAAAAAAAAAPz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gMAAP8BAADdNwAACQoAABAAAAAmAAAACAAAAP//////////"/>
              </a:ext>
            </a:extLst>
          </p:cNvSpPr>
          <p:nvPr/>
        </p:nvSpPr>
        <p:spPr>
          <a:xfrm>
            <a:off x="560070" y="324485"/>
            <a:ext cx="8521065" cy="1306830"/>
          </a:xfrm>
          <a:custGeom>
            <a:avLst/>
            <a:gdLst/>
            <a:ahLst/>
            <a:cxnLst/>
            <a:rect l="0" t="0" r="8521065" b="1306830"/>
            <a:pathLst>
              <a:path w="8521065" h="1306830">
                <a:moveTo>
                  <a:pt x="0" y="0"/>
                </a:moveTo>
                <a:lnTo>
                  <a:pt x="8521065" y="0"/>
                </a:lnTo>
                <a:lnTo>
                  <a:pt x="8521065" y="1306830"/>
                </a:lnTo>
                <a:lnTo>
                  <a:pt x="0" y="130683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5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+gMAAEUCAAAEFQAAdQUAABAgAAAmAAAACAAAAP//////////"/>
              </a:ext>
            </a:extLst>
          </p:cNvSpPr>
          <p:nvPr/>
        </p:nvSpPr>
        <p:spPr>
          <a:xfrm>
            <a:off x="646430" y="368935"/>
            <a:ext cx="2769870" cy="518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3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Цели проекта</a:t>
            </a:r>
            <a:endParaRPr lang="en-us" sz="30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6" name="Прямоугольник2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AcAAAwPAABHCAAAvxAAABAgAAAmAAAACAAAAP//////////"/>
              </a:ext>
            </a:extLst>
          </p:cNvSpPr>
          <p:nvPr/>
        </p:nvSpPr>
        <p:spPr>
          <a:xfrm>
            <a:off x="1143000" y="2446020"/>
            <a:ext cx="202565" cy="276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1.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7" name="Прямоугольник3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woAABAPAACUMwAAjhAAAAAgAAAmAAAACAAAAP//////////"/>
              </a:ext>
            </a:extLst>
          </p:cNvSpPr>
          <p:nvPr/>
        </p:nvSpPr>
        <p:spPr>
          <a:xfrm>
            <a:off x="1632585" y="2448560"/>
            <a:ext cx="6751955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Разработать  транспортный, логический и фреймворк модули системы,</a:t>
            </a:r>
          </a:p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а также модуль хранения данных </a:t>
            </a:r>
          </a:p>
        </p:txBody>
      </p:sp>
      <p:sp>
        <p:nvSpPr>
          <p:cNvPr id="8" name="Прямоугольник4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AcAAKwRAABHCAAAXhMAABAgAAAmAAAACAAAAP//////////"/>
              </a:ext>
            </a:extLst>
          </p:cNvSpPr>
          <p:nvPr/>
        </p:nvSpPr>
        <p:spPr>
          <a:xfrm>
            <a:off x="1143000" y="2872740"/>
            <a:ext cx="202565" cy="2755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2.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9" name="Прямоугольник5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F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woAALARAAB8IQAALhMAAAAgAAAmAAAACAAAAP//////////"/>
              </a:ext>
            </a:extLst>
          </p:cNvSpPr>
          <p:nvPr/>
        </p:nvSpPr>
        <p:spPr>
          <a:xfrm>
            <a:off x="1632585" y="2875280"/>
            <a:ext cx="3810635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Познакомиться с современными методами логирования и</a:t>
            </a:r>
          </a:p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визуализации данных приложения в виде дашбордов</a:t>
            </a:r>
          </a:p>
        </p:txBody>
      </p:sp>
      <p:sp>
        <p:nvSpPr>
          <p:cNvPr id="10" name="Прямоугольник6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AcAAEsUAABHCAAA/hUAABAgAAAmAAAACAAAAP//////////"/>
              </a:ext>
            </a:extLst>
          </p:cNvSpPr>
          <p:nvPr/>
        </p:nvSpPr>
        <p:spPr>
          <a:xfrm>
            <a:off x="1143000" y="3298825"/>
            <a:ext cx="202565" cy="276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3.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1" name="Прямоугольник7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woAAFAUAAC9JAAAzhUAAAAgAAAmAAAACAAAAP//////////"/>
              </a:ext>
            </a:extLst>
          </p:cNvSpPr>
          <p:nvPr/>
        </p:nvSpPr>
        <p:spPr>
          <a:xfrm>
            <a:off x="1632585" y="3302000"/>
            <a:ext cx="4339590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Использовать в проекте библиотеки машинного обучения и DataScience</a:t>
            </a:r>
          </a:p>
        </p:txBody>
      </p:sp>
      <p:sp>
        <p:nvSpPr>
          <p:cNvPr id="12" name="Прямоугольник8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AcAAOsWAABHCAAAnhgAABAgAAAmAAAACAAAAP//////////"/>
              </a:ext>
            </a:extLst>
          </p:cNvSpPr>
          <p:nvPr/>
        </p:nvSpPr>
        <p:spPr>
          <a:xfrm>
            <a:off x="1143000" y="3725545"/>
            <a:ext cx="202565" cy="276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4.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13" name="Изображение2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AQQBs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LYJAABLCAAAwzIAAK8N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578610" y="1348105"/>
            <a:ext cx="6673215" cy="8763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" name="Кривая3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J/f38A////A8zMzADAwP8Af39/AAAAAAAAAAAAAAAAAAAAAAAAAAAAIQAAABgAAAAUAAAAJwoAAIcIAABSMgAArw0AABAAAAAmAAAACAAAAP//////////"/>
              </a:ext>
            </a:extLst>
          </p:cNvSpPr>
          <p:nvPr/>
        </p:nvSpPr>
        <p:spPr>
          <a:xfrm>
            <a:off x="1650365" y="1386205"/>
            <a:ext cx="6529705" cy="838200"/>
          </a:xfrm>
          <a:custGeom>
            <a:avLst/>
            <a:gdLst/>
            <a:ahLst/>
            <a:cxnLst/>
            <a:rect l="0" t="0" r="6529705" b="838200"/>
            <a:pathLst>
              <a:path w="6529705" h="838200">
                <a:moveTo>
                  <a:pt x="0" y="139852"/>
                </a:moveTo>
                <a:cubicBezTo>
                  <a:pt x="0" y="62865"/>
                  <a:pt x="55092" y="0"/>
                  <a:pt x="122561" y="0"/>
                </a:cubicBezTo>
                <a:lnTo>
                  <a:pt x="6407143" y="0"/>
                </a:lnTo>
                <a:cubicBezTo>
                  <a:pt x="6439480" y="0"/>
                  <a:pt x="6470619" y="15033"/>
                  <a:pt x="6493774" y="40999"/>
                </a:cubicBezTo>
                <a:cubicBezTo>
                  <a:pt x="6516530" y="67420"/>
                  <a:pt x="6529705" y="102953"/>
                  <a:pt x="6529705" y="139852"/>
                </a:cubicBezTo>
                <a:lnTo>
                  <a:pt x="6529705" y="698804"/>
                </a:lnTo>
                <a:cubicBezTo>
                  <a:pt x="6529705" y="775791"/>
                  <a:pt x="6474612" y="838200"/>
                  <a:pt x="6407143" y="838200"/>
                </a:cubicBezTo>
                <a:lnTo>
                  <a:pt x="122561" y="838200"/>
                </a:lnTo>
                <a:cubicBezTo>
                  <a:pt x="55092" y="838200"/>
                  <a:pt x="0" y="775791"/>
                  <a:pt x="0" y="698804"/>
                </a:cubicBezTo>
                <a:lnTo>
                  <a:pt x="0" y="139852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5" name="Прямоугольник9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DAoAAPAWAACOMAAAuBgAAAAAAAAmAAAACAAAAP//////////"/>
              </a:ext>
            </a:extLst>
          </p:cNvSpPr>
          <p:nvPr/>
        </p:nvSpPr>
        <p:spPr>
          <a:xfrm>
            <a:off x="1633220" y="3728720"/>
            <a:ext cx="6259830" cy="2895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Познакомиться с  библиотеками и тенденциями Kotlin-экосистемы</a:t>
            </a:r>
          </a:p>
        </p:txBody>
      </p:sp>
      <p:sp>
        <p:nvSpPr>
          <p:cNvPr id="16" name="Прямоугольник10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NgsAAAgJAABtLgAAowoAAAAgAAAmAAAACAAAAP//////////"/>
              </a:ext>
            </a:extLst>
          </p:cNvSpPr>
          <p:nvPr/>
        </p:nvSpPr>
        <p:spPr>
          <a:xfrm>
            <a:off x="1822450" y="1468120"/>
            <a:ext cx="5724525" cy="2609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5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Цель проекта: разработать мультиплатформенную </a:t>
            </a:r>
            <a:endParaRPr lang="en-us" sz="1500" cap="none">
              <a:solidFill>
                <a:srgbClr val="000000"/>
              </a:solidFill>
              <a:latin typeface="Roboto" pitchFamily="0" charset="0"/>
              <a:ea typeface="Roboto" pitchFamily="0" charset="0"/>
              <a:cs typeface="DejaVu Sans" pitchFamily="0" charset="0"/>
            </a:endParaRPr>
          </a:p>
          <a:p>
            <a:pPr/>
            <a:r>
              <a:rPr lang="en-us" sz="15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бэкэнд систему на Kotlin с возможностью формирования и</a:t>
            </a:r>
            <a:endParaRPr lang="en-us" sz="1500" cap="none">
              <a:solidFill>
                <a:srgbClr val="000000"/>
              </a:solidFill>
              <a:latin typeface="Roboto" pitchFamily="0" charset="0"/>
              <a:ea typeface="Roboto" pitchFamily="0" charset="0"/>
              <a:cs typeface="DejaVu Sans" pitchFamily="0" charset="0"/>
            </a:endParaRPr>
          </a:p>
          <a:p>
            <a:pPr/>
            <a:r>
              <a:rPr lang="en-us" sz="15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хранения с помощью нее моделей машинного обучения</a:t>
            </a:r>
            <a:endParaRPr lang="en-us" sz="1500" cap="none">
              <a:solidFill>
                <a:srgbClr val="000000"/>
              </a:solidFill>
              <a:latin typeface="Roboto" pitchFamily="0" charset="0"/>
              <a:ea typeface="Roboto" pitchFamily="0" charset="0"/>
              <a:cs typeface="DejaVu Sans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AAAAAAAAAAAPz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MAAAgCAAB/NwAAxwgAABAAAAAmAAAACAAAAP//////////"/>
              </a:ext>
            </a:extLst>
          </p:cNvSpPr>
          <p:nvPr/>
        </p:nvSpPr>
        <p:spPr>
          <a:xfrm>
            <a:off x="500380" y="330200"/>
            <a:ext cx="8521065" cy="1096645"/>
          </a:xfrm>
          <a:custGeom>
            <a:avLst/>
            <a:gdLst/>
            <a:ahLst/>
            <a:cxnLst/>
            <a:rect l="0" t="0" r="8521065" b="1096645"/>
            <a:pathLst>
              <a:path w="8521065" h="1096645">
                <a:moveTo>
                  <a:pt x="0" y="0"/>
                </a:moveTo>
                <a:lnTo>
                  <a:pt x="8521065" y="0"/>
                </a:lnTo>
                <a:lnTo>
                  <a:pt x="8521065" y="1096645"/>
                </a:lnTo>
                <a:lnTo>
                  <a:pt x="0" y="109664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5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nAMAAE4CAADNGwAAfwUAABAgAAAmAAAACAAAAP//////////"/>
              </a:ext>
            </a:extLst>
          </p:cNvSpPr>
          <p:nvPr/>
        </p:nvSpPr>
        <p:spPr>
          <a:xfrm>
            <a:off x="586740" y="374650"/>
            <a:ext cx="3932555" cy="518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3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Что планировалось</a:t>
            </a:r>
            <a:endParaRPr lang="en-us" sz="30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6" name="Прямоугольник6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piMAADAMAACVJAAAdw0AABAgAAAmAAAACAAAAP//////////"/>
              </a:ext>
            </a:extLst>
          </p:cNvSpPr>
          <p:nvPr/>
        </p:nvSpPr>
        <p:spPr>
          <a:xfrm>
            <a:off x="5795010" y="1981200"/>
            <a:ext cx="151765" cy="2076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2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-</a:t>
            </a:r>
            <a:endParaRPr lang="en-us" sz="12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7" name="Прямоугольник8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piMAAFANAACVJAAAlw4AABAgAAAmAAAACAAAAP//////////"/>
              </a:ext>
            </a:extLst>
          </p:cNvSpPr>
          <p:nvPr/>
        </p:nvSpPr>
        <p:spPr>
          <a:xfrm>
            <a:off x="5795010" y="2164080"/>
            <a:ext cx="151765" cy="2076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2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-</a:t>
            </a:r>
            <a:endParaRPr lang="en-us" sz="12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8" name="Прямоугольник10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AcAABEMAABHCAAAww0AABAgAAAmAAAACAAAAP//////////"/>
              </a:ext>
            </a:extLst>
          </p:cNvSpPr>
          <p:nvPr/>
        </p:nvSpPr>
        <p:spPr>
          <a:xfrm>
            <a:off x="1143000" y="1961515"/>
            <a:ext cx="202565" cy="2755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1.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9" name="Прямоугольник1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AcAALAOAABHCAAAYxAAABAgAAAmAAAACAAAAP//////////"/>
              </a:ext>
            </a:extLst>
          </p:cNvSpPr>
          <p:nvPr/>
        </p:nvSpPr>
        <p:spPr>
          <a:xfrm>
            <a:off x="1143000" y="2387600"/>
            <a:ext cx="202565" cy="276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2.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0" name="Прямоугольник12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AcAAFERAABHCAAABBMAABAgAAAmAAAACAAAAP//////////"/>
              </a:ext>
            </a:extLst>
          </p:cNvSpPr>
          <p:nvPr/>
        </p:nvSpPr>
        <p:spPr>
          <a:xfrm>
            <a:off x="1143000" y="2814955"/>
            <a:ext cx="202565" cy="276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3</a:t>
            </a:r>
            <a:r>
              <a:rPr lang="en-us" sz="16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1" name="Прямоугольник13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AcAAPETAABHCAAAoxUAABAgAAAmAAAACAAAAP//////////"/>
              </a:ext>
            </a:extLst>
          </p:cNvSpPr>
          <p:nvPr/>
        </p:nvSpPr>
        <p:spPr>
          <a:xfrm>
            <a:off x="1143000" y="3241675"/>
            <a:ext cx="202565" cy="2755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4.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2" name="Прямоугольник14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1AgAADEMAABdMgAArw0AAAAgAAAmAAAACAAAAP//////////"/>
              </a:ext>
            </a:extLst>
          </p:cNvSpPr>
          <p:nvPr/>
        </p:nvSpPr>
        <p:spPr>
          <a:xfrm>
            <a:off x="1435100" y="1981835"/>
            <a:ext cx="6751955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Разработать систему для проверки результатов</a:t>
            </a:r>
          </a:p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обучения модели с переданными параметрами  </a:t>
            </a:r>
          </a:p>
        </p:txBody>
      </p:sp>
      <p:sp>
        <p:nvSpPr>
          <p:cNvPr id="13" name="Прямоугольник15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yQgAANcOAABSMgAAVRAAAAAgAAAmAAAACAAAAP//////////"/>
              </a:ext>
            </a:extLst>
          </p:cNvSpPr>
          <p:nvPr/>
        </p:nvSpPr>
        <p:spPr>
          <a:xfrm>
            <a:off x="1428115" y="2412365"/>
            <a:ext cx="6751955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Возможность проверки одновременно большого количества моделей</a:t>
            </a:r>
          </a:p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 с разными параметрами</a:t>
            </a:r>
          </a:p>
        </p:txBody>
      </p:sp>
      <p:sp>
        <p:nvSpPr>
          <p:cNvPr id="14" name="Прямоугольник16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yQgAAH0RAABSMgAA+xIAAAAgAAAmAAAACAAAAP//////////"/>
              </a:ext>
            </a:extLst>
          </p:cNvSpPr>
          <p:nvPr/>
        </p:nvSpPr>
        <p:spPr>
          <a:xfrm>
            <a:off x="1428115" y="2842895"/>
            <a:ext cx="6751955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rPr>
              <a:t>Возможность выбора лучшей модели</a:t>
            </a:r>
            <a:r>
              <a:rPr lang="en-us" sz="1400" cap="none">
                <a:solidFill>
                  <a:srgbClr val="000000"/>
                </a:solidFill>
                <a:latin typeface="Times New Roman" pitchFamily="1" charset="-52"/>
                <a:ea typeface="DejaVu Sans" pitchFamily="0" charset="0"/>
                <a:cs typeface="DejaVu Sans" pitchFamily="0" charset="0"/>
              </a:rPr>
              <a:t> </a:t>
            </a:r>
            <a:endParaRPr lang="en-us" sz="1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5" name="Прямоугольник17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yQgAACMUAABSMgAAoRUAAAAgAAAmAAAACAAAAP//////////"/>
              </a:ext>
            </a:extLst>
          </p:cNvSpPr>
          <p:nvPr/>
        </p:nvSpPr>
        <p:spPr>
          <a:xfrm>
            <a:off x="1428115" y="3273425"/>
            <a:ext cx="6751955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Возможность генерации данных рандомно по заданному шаблону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AAAAAAAAAAAPz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MAAAgCAAB/NwAAxwgAABAAAAAmAAAACAAAAP//////////"/>
              </a:ext>
            </a:extLst>
          </p:cNvSpPr>
          <p:nvPr/>
        </p:nvSpPr>
        <p:spPr>
          <a:xfrm>
            <a:off x="500380" y="330200"/>
            <a:ext cx="8521065" cy="1096645"/>
          </a:xfrm>
          <a:custGeom>
            <a:avLst/>
            <a:gdLst/>
            <a:ahLst/>
            <a:cxnLst/>
            <a:rect l="0" t="0" r="8521065" b="1096645"/>
            <a:pathLst>
              <a:path w="8521065" h="1096645">
                <a:moveTo>
                  <a:pt x="0" y="0"/>
                </a:moveTo>
                <a:lnTo>
                  <a:pt x="8521065" y="0"/>
                </a:lnTo>
                <a:lnTo>
                  <a:pt x="8521065" y="1096645"/>
                </a:lnTo>
                <a:lnTo>
                  <a:pt x="0" y="109664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5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nAMAAE4CAABhHAAAfwUAABAgAAAmAAAACAAAAP//////////"/>
              </a:ext>
            </a:extLst>
          </p:cNvSpPr>
          <p:nvPr/>
        </p:nvSpPr>
        <p:spPr>
          <a:xfrm>
            <a:off x="586740" y="374650"/>
            <a:ext cx="4026535" cy="518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3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Схемы/архитектура</a:t>
            </a:r>
            <a:endParaRPr lang="en-us" sz="30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6" name="Изображение2"/>
          <p:cNvPicPr>
            <a:picLocks noChangeAspect="1"/>
            <a:extLst>
              <a:ext uri="smNativeData">
                <pr:smNativeData xmlns:pr="smNativeData" xmlns="smNativeData" val="SMDATA_17_Kv6qaBMAAAAlAAAAEQAAAC8B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OIAAAC9BQAAGzIAAIgd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" y="932815"/>
            <a:ext cx="8001635" cy="386778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AAAAAAAAAAAPz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Hlr0M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MAAAgCAAB/NwAAxwgAABAAAAAmAAAACAAAAP//////////"/>
              </a:ext>
            </a:extLst>
          </p:cNvSpPr>
          <p:nvPr/>
        </p:nvSpPr>
        <p:spPr>
          <a:xfrm>
            <a:off x="500380" y="330200"/>
            <a:ext cx="8521065" cy="1096645"/>
          </a:xfrm>
          <a:custGeom>
            <a:avLst/>
            <a:gdLst/>
            <a:ahLst/>
            <a:cxnLst/>
            <a:rect l="0" t="0" r="8521065" b="1096645"/>
            <a:pathLst>
              <a:path w="8521065" h="1096645">
                <a:moveTo>
                  <a:pt x="0" y="0"/>
                </a:moveTo>
                <a:lnTo>
                  <a:pt x="8521065" y="0"/>
                </a:lnTo>
                <a:lnTo>
                  <a:pt x="8521065" y="1096645"/>
                </a:lnTo>
                <a:lnTo>
                  <a:pt x="0" y="109664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5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nAMAAE4CAAAoJQAAfwUAABAgAAAmAAAACAAAAP//////////"/>
              </a:ext>
            </a:extLst>
          </p:cNvSpPr>
          <p:nvPr/>
        </p:nvSpPr>
        <p:spPr>
          <a:xfrm>
            <a:off x="586740" y="374650"/>
            <a:ext cx="5453380" cy="518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3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Используемые технологии</a:t>
            </a:r>
            <a:endParaRPr lang="en-us" sz="30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6" name="Прямоугольник7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AcAABEMAABHCAAAww0AABAgAAAmAAAACAAAAP//////////"/>
              </a:ext>
            </a:extLst>
          </p:cNvSpPr>
          <p:nvPr/>
        </p:nvSpPr>
        <p:spPr>
          <a:xfrm>
            <a:off x="1143000" y="1961515"/>
            <a:ext cx="202565" cy="2755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1.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7" name="Прямоугольник8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AcAALAOAABHCAAAYxAAABAgAAAmAAAACAAAAP//////////"/>
              </a:ext>
            </a:extLst>
          </p:cNvSpPr>
          <p:nvPr/>
        </p:nvSpPr>
        <p:spPr>
          <a:xfrm>
            <a:off x="1143000" y="2387600"/>
            <a:ext cx="202565" cy="276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2.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8" name="Прямоугольник9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AcAAFERAABHCAAABBMAABAgAAAmAAAACAAAAP//////////"/>
              </a:ext>
            </a:extLst>
          </p:cNvSpPr>
          <p:nvPr/>
        </p:nvSpPr>
        <p:spPr>
          <a:xfrm>
            <a:off x="1143000" y="2814955"/>
            <a:ext cx="202565" cy="276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3</a:t>
            </a:r>
            <a:r>
              <a:rPr lang="en-us" sz="16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9" name="Прямоугольник10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AcAAPETAABHCAAAoxUAABAgAAAmAAAACAAAAP//////////"/>
              </a:ext>
            </a:extLst>
          </p:cNvSpPr>
          <p:nvPr/>
        </p:nvSpPr>
        <p:spPr>
          <a:xfrm>
            <a:off x="1143000" y="3241675"/>
            <a:ext cx="202565" cy="2755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4.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0" name="Прямоугольник1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YwgAADEMAADsMQAArw0AAAAgAAAmAAAACAAAAP//////////"/>
              </a:ext>
            </a:extLst>
          </p:cNvSpPr>
          <p:nvPr/>
        </p:nvSpPr>
        <p:spPr>
          <a:xfrm>
            <a:off x="1363345" y="1981835"/>
            <a:ext cx="6751955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Генерация моделей OpenApi,   kotlin kapt</a:t>
            </a:r>
          </a:p>
        </p:txBody>
      </p:sp>
      <p:sp>
        <p:nvSpPr>
          <p:cNvPr id="11" name="Прямоугольник2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YwgAANcOAADsMQAAVRAAAAAgAAAmAAAACAAAAP//////////"/>
              </a:ext>
            </a:extLst>
          </p:cNvSpPr>
          <p:nvPr/>
        </p:nvSpPr>
        <p:spPr>
          <a:xfrm>
            <a:off x="1363345" y="2412365"/>
            <a:ext cx="6751955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Обработка запросов  Ktor</a:t>
            </a:r>
          </a:p>
        </p:txBody>
      </p:sp>
      <p:sp>
        <p:nvSpPr>
          <p:cNvPr id="12" name="Прямоугольник3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WAgAAH0RAADhMQAA+xIAAAAgAAAmAAAACAAAAP//////////"/>
              </a:ext>
            </a:extLst>
          </p:cNvSpPr>
          <p:nvPr/>
        </p:nvSpPr>
        <p:spPr>
          <a:xfrm>
            <a:off x="1356360" y="2842895"/>
            <a:ext cx="6751955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Логирование KermitLogger, FluentBit, OpenSearch, OpenDashboards</a:t>
            </a:r>
          </a:p>
        </p:txBody>
      </p:sp>
      <p:sp>
        <p:nvSpPr>
          <p:cNvPr id="13" name="Прямоугольник4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YwgAACMUAADsMQAAoRUAAAAgAAAmAAAACAAAAP//////////"/>
              </a:ext>
            </a:extLst>
          </p:cNvSpPr>
          <p:nvPr/>
        </p:nvSpPr>
        <p:spPr>
          <a:xfrm>
            <a:off x="1363345" y="3273425"/>
            <a:ext cx="6751955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БД Cassandra</a:t>
            </a:r>
          </a:p>
        </p:txBody>
      </p:sp>
      <p:sp>
        <p:nvSpPr>
          <p:cNvPr id="14" name="Прямоугольник5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JAcAAJUWAABjCAAARxgAAAAAAAAmAAAACAAAAP//////////"/>
              </a:ext>
            </a:extLst>
          </p:cNvSpPr>
          <p:nvPr/>
        </p:nvSpPr>
        <p:spPr>
          <a:xfrm>
            <a:off x="1160780" y="3670935"/>
            <a:ext cx="202565" cy="2755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5.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5" name="Прямоугольник6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WAgAAMkWAADhMQAARxgAAAAgAAAmAAAACAAAAP//////////"/>
              </a:ext>
            </a:extLst>
          </p:cNvSpPr>
          <p:nvPr/>
        </p:nvSpPr>
        <p:spPr>
          <a:xfrm>
            <a:off x="1356360" y="3703955"/>
            <a:ext cx="6751955" cy="242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Приемочные тесты на kotest + test containers, unit-тесты на junit ,</a:t>
            </a:r>
          </a:p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mock тесты mockito-kotlin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HEAAAAAAAAAsD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1755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MAAAgCAAB/NwAAxwgAABAAAAAmAAAACAAAAP//////////"/>
              </a:ext>
            </a:extLst>
          </p:cNvSpPr>
          <p:nvPr/>
        </p:nvSpPr>
        <p:spPr>
          <a:xfrm>
            <a:off x="500380" y="330200"/>
            <a:ext cx="8521065" cy="1096645"/>
          </a:xfrm>
          <a:custGeom>
            <a:avLst/>
            <a:gdLst/>
            <a:ahLst/>
            <a:cxnLst/>
            <a:rect l="0" t="0" r="8521065" b="1096645"/>
            <a:pathLst>
              <a:path w="8521065" h="1096645">
                <a:moveTo>
                  <a:pt x="0" y="0"/>
                </a:moveTo>
                <a:lnTo>
                  <a:pt x="8521065" y="0"/>
                </a:lnTo>
                <a:lnTo>
                  <a:pt x="8521065" y="1096645"/>
                </a:lnTo>
                <a:lnTo>
                  <a:pt x="0" y="109664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5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nAMAAE4CAABUFwAAfwUAABAgAAAmAAAACAAAAP//////////"/>
              </a:ext>
            </a:extLst>
          </p:cNvSpPr>
          <p:nvPr/>
        </p:nvSpPr>
        <p:spPr>
          <a:xfrm>
            <a:off x="586740" y="374650"/>
            <a:ext cx="3205480" cy="518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3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Что получилось</a:t>
            </a:r>
            <a:endParaRPr lang="en-us" sz="30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6" name="Изображение3"/>
          <p:cNvPicPr>
            <a:picLocks noChangeAspect="1"/>
            <a:extLst>
              <a:ext uri="smNativeData">
                <pr:smNativeData xmlns:pr="smNativeData" xmlns="smNativeData" val="SMDATA_17_Kv6qaBMAAAAlAAAAEQAAAC8B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BhOnBh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BcDAAAuBgAAxzUAABQW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02285" y="1004570"/>
            <a:ext cx="8239760" cy="25844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HEAAAAAAAAAsD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1755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MAAAgCAAB/NwAAxwgAABAAAAAmAAAACAAAAP//////////"/>
              </a:ext>
            </a:extLst>
          </p:cNvSpPr>
          <p:nvPr/>
        </p:nvSpPr>
        <p:spPr>
          <a:xfrm>
            <a:off x="500380" y="330200"/>
            <a:ext cx="8521065" cy="1096645"/>
          </a:xfrm>
          <a:custGeom>
            <a:avLst/>
            <a:gdLst/>
            <a:ahLst/>
            <a:cxnLst/>
            <a:rect l="0" t="0" r="8521065" b="1096645"/>
            <a:pathLst>
              <a:path w="8521065" h="1096645">
                <a:moveTo>
                  <a:pt x="0" y="0"/>
                </a:moveTo>
                <a:lnTo>
                  <a:pt x="8521065" y="0"/>
                </a:lnTo>
                <a:lnTo>
                  <a:pt x="8521065" y="1096645"/>
                </a:lnTo>
                <a:lnTo>
                  <a:pt x="0" y="109664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5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nAMAAE4CAABUFwAAfwUAABAgAAAmAAAACAAAAP//////////"/>
              </a:ext>
            </a:extLst>
          </p:cNvSpPr>
          <p:nvPr/>
        </p:nvSpPr>
        <p:spPr>
          <a:xfrm>
            <a:off x="586740" y="374650"/>
            <a:ext cx="3205480" cy="518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3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Что получилось</a:t>
            </a:r>
            <a:endParaRPr lang="en-us" sz="30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6" name="Изображение2"/>
          <p:cNvPicPr>
            <a:picLocks noChangeAspect="1"/>
            <a:extLst>
              <a:ext uri="smNativeData">
                <pr:smNativeData xmlns:pr="smNativeData" xmlns="smNativeData" val="SMDATA_17_Kv6qaBMAAAAlAAAAEQAAAC8B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+PGE6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IgDAABcBgAAZyYAAEIb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" y="1033780"/>
            <a:ext cx="5668645" cy="33972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HEAAAAAAAAAsD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1755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MAAAgCAAB/NwAAxwgAABAAAAAmAAAACAAAAP//////////"/>
              </a:ext>
            </a:extLst>
          </p:cNvSpPr>
          <p:nvPr/>
        </p:nvSpPr>
        <p:spPr>
          <a:xfrm>
            <a:off x="500380" y="330200"/>
            <a:ext cx="8521065" cy="1096645"/>
          </a:xfrm>
          <a:custGeom>
            <a:avLst/>
            <a:gdLst/>
            <a:ahLst/>
            <a:cxnLst/>
            <a:rect l="0" t="0" r="8521065" b="1096645"/>
            <a:pathLst>
              <a:path w="8521065" h="1096645">
                <a:moveTo>
                  <a:pt x="0" y="0"/>
                </a:moveTo>
                <a:lnTo>
                  <a:pt x="8521065" y="0"/>
                </a:lnTo>
                <a:lnTo>
                  <a:pt x="8521065" y="1096645"/>
                </a:lnTo>
                <a:lnTo>
                  <a:pt x="0" y="109664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5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nAMAAE4CAABUFwAAfwUAABAgAAAmAAAACAAAAP//////////"/>
              </a:ext>
            </a:extLst>
          </p:cNvSpPr>
          <p:nvPr/>
        </p:nvSpPr>
        <p:spPr>
          <a:xfrm>
            <a:off x="586740" y="374650"/>
            <a:ext cx="3205480" cy="518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3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Что получилось</a:t>
            </a:r>
            <a:endParaRPr lang="en-us" sz="30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6" name="Изображение3"/>
          <p:cNvPicPr>
            <a:picLocks noChangeAspect="1"/>
            <a:extLst>
              <a:ext uri="smNativeData">
                <pr:smNativeData xmlns:pr="smNativeData" xmlns="smNativeData" val="SMDATA_17_Kv6qaBMAAAAlAAAAEQAAAC8B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IgDAAAuBgAAtRsAAHUe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" y="1004570"/>
            <a:ext cx="3930015" cy="39465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HEAAAAAAAAAsD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1755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MAAAgCAAB/NwAAxwgAABAAAAAmAAAACAAAAP//////////"/>
              </a:ext>
            </a:extLst>
          </p:cNvSpPr>
          <p:nvPr/>
        </p:nvSpPr>
        <p:spPr>
          <a:xfrm>
            <a:off x="500380" y="330200"/>
            <a:ext cx="8521065" cy="1096645"/>
          </a:xfrm>
          <a:custGeom>
            <a:avLst/>
            <a:gdLst/>
            <a:ahLst/>
            <a:cxnLst/>
            <a:rect l="0" t="0" r="8521065" b="1096645"/>
            <a:pathLst>
              <a:path w="8521065" h="1096645">
                <a:moveTo>
                  <a:pt x="0" y="0"/>
                </a:moveTo>
                <a:lnTo>
                  <a:pt x="8521065" y="0"/>
                </a:lnTo>
                <a:lnTo>
                  <a:pt x="8521065" y="1096645"/>
                </a:lnTo>
                <a:lnTo>
                  <a:pt x="0" y="109664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5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nAMAAE4CAABUFwAAfwUAABAgAAAmAAAACAAAAP//////////"/>
              </a:ext>
            </a:extLst>
          </p:cNvSpPr>
          <p:nvPr/>
        </p:nvSpPr>
        <p:spPr>
          <a:xfrm>
            <a:off x="586740" y="374650"/>
            <a:ext cx="3205480" cy="518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3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Что получилось</a:t>
            </a:r>
            <a:endParaRPr lang="en-us" sz="30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6" name="Изображение3"/>
          <p:cNvPicPr>
            <a:picLocks noChangeAspect="1"/>
            <a:extLst>
              <a:ext uri="smNativeData">
                <pr:smNativeData xmlns:pr="smNativeData" xmlns="smNativeData" val="SMDATA_17_Kv6qaBMAAAAlAAAAEQAAAC8B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Ay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IgDAACZBgAArC8AAM8b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" y="1072515"/>
            <a:ext cx="7175500" cy="34480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BsZXhG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HEAAAAAAAAAsD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1755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MAAAgCAAB/NwAAxwgAABAAAAAmAAAACAAAAP//////////"/>
              </a:ext>
            </a:extLst>
          </p:cNvSpPr>
          <p:nvPr/>
        </p:nvSpPr>
        <p:spPr>
          <a:xfrm>
            <a:off x="500380" y="330200"/>
            <a:ext cx="8521065" cy="1096645"/>
          </a:xfrm>
          <a:custGeom>
            <a:avLst/>
            <a:gdLst/>
            <a:ahLst/>
            <a:cxnLst/>
            <a:rect l="0" t="0" r="8521065" b="1096645"/>
            <a:pathLst>
              <a:path w="8521065" h="1096645">
                <a:moveTo>
                  <a:pt x="0" y="0"/>
                </a:moveTo>
                <a:lnTo>
                  <a:pt x="8521065" y="0"/>
                </a:lnTo>
                <a:lnTo>
                  <a:pt x="8521065" y="1096645"/>
                </a:lnTo>
                <a:lnTo>
                  <a:pt x="0" y="109664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5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nAMAAE4CAABUFwAAfwUAABAgAAAmAAAACAAAAP//////////"/>
              </a:ext>
            </a:extLst>
          </p:cNvSpPr>
          <p:nvPr/>
        </p:nvSpPr>
        <p:spPr>
          <a:xfrm>
            <a:off x="586740" y="374650"/>
            <a:ext cx="3205480" cy="518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30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Что получилось</a:t>
            </a:r>
            <a:endParaRPr lang="en-us" sz="30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6" name="ТекстСлайда1"/>
          <p:cNvSpPr>
            <a:extLst>
              <a:ext uri="smNativeData">
                <pr:smNativeData xmlns:pr="smNativeData" xmlns="smNativeData" val="SMDATA_15_Kv6qaBMAAAAlAAAAZAAAAA0AAAAAkAAAAJAAAACQAAAAk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pHk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MAAJ8GAAB/NwAAxhAAAAAAAAAmAAAACAAAAP//////////"/>
              </a:ext>
            </a:extLst>
          </p:cNvSpPr>
          <p:nvPr/>
        </p:nvSpPr>
        <p:spPr>
          <a:xfrm>
            <a:off x="500380" y="1076325"/>
            <a:ext cx="8521065" cy="1650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t"/>
          <a:lstStyle/>
          <a:p>
            <a:pPr marL="457200" indent="-336550">
              <a:lnSpc>
                <a:spcPct val="120000"/>
              </a:lnSpc>
              <a:spcBef>
                <a:spcPts val="300"/>
              </a:spcBef>
              <a:buSzPts val="1700"/>
              <a:buFont typeface="Roboto" pitchFamily="0" charset="0"/>
              <a:buChar char="●"/>
              <a:defRPr lang="ru-ru" sz="17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Ссылка на репозиторий с исходным кодом :</a:t>
            </a:r>
          </a:p>
          <a:p>
            <a:pPr marL="457200" indent="-336550">
              <a:lnSpc>
                <a:spcPct val="120000"/>
              </a:lnSpc>
              <a:spcBef>
                <a:spcPts val="300"/>
              </a:spcBef>
              <a:buSzPts val="1700"/>
              <a:buFont typeface="Roboto" pitchFamily="0" charset="0"/>
              <a:buChar char="●"/>
              <a:defRPr lang="ru-ru" sz="17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https://github.com/AlekseyFilatov/OTUS-Kotlin-Developer-hw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D////f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AAAAAAAAAAAPz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AMAAAgCAAB/NwAAxwgAABAAAAAmAAAACAAAAP//////////"/>
              </a:ext>
            </a:extLst>
          </p:cNvSpPr>
          <p:nvPr/>
        </p:nvSpPr>
        <p:spPr>
          <a:xfrm>
            <a:off x="500380" y="330200"/>
            <a:ext cx="8521065" cy="1096645"/>
          </a:xfrm>
          <a:custGeom>
            <a:avLst/>
            <a:gdLst/>
            <a:ahLst/>
            <a:cxnLst/>
            <a:rect l="0" t="0" r="8521065" b="1096645"/>
            <a:pathLst>
              <a:path w="8521065" h="1096645">
                <a:moveTo>
                  <a:pt x="0" y="0"/>
                </a:moveTo>
                <a:lnTo>
                  <a:pt x="8521065" y="0"/>
                </a:lnTo>
                <a:lnTo>
                  <a:pt x="8521065" y="1096645"/>
                </a:lnTo>
                <a:lnTo>
                  <a:pt x="0" y="109664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5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nAMAAEYCAAD6DgAA5QUAABAgAAAmAAAACAAAAP//////////"/>
              </a:ext>
            </a:extLst>
          </p:cNvSpPr>
          <p:nvPr/>
        </p:nvSpPr>
        <p:spPr>
          <a:xfrm>
            <a:off x="586740" y="369570"/>
            <a:ext cx="1847850" cy="5886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3400" b="1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Выводы</a:t>
            </a:r>
            <a:endParaRPr lang="en-us" sz="34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6" name="Прямоугольник2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AcAAPYKAABHCAAAqQwAABAgAAAmAAAACAAAAP//////////"/>
              </a:ext>
            </a:extLst>
          </p:cNvSpPr>
          <p:nvPr/>
        </p:nvSpPr>
        <p:spPr>
          <a:xfrm>
            <a:off x="1143000" y="1781810"/>
            <a:ext cx="202565" cy="276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1.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7" name="Прямоугольник3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EAcAAN0TAABjCAAAoRUAABAAAAAmAAAACAAAAP//////////"/>
              </a:ext>
            </a:extLst>
          </p:cNvSpPr>
          <p:nvPr/>
        </p:nvSpPr>
        <p:spPr>
          <a:xfrm>
            <a:off x="1148080" y="3228975"/>
            <a:ext cx="215265" cy="2870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r>
              <a:rPr lang="en-us" sz="1600" b="1" cap="none">
                <a:solidFill>
                  <a:srgbClr val="9857F3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2.</a:t>
            </a:r>
            <a:endParaRPr lang="en-us" sz="16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8" name="Прямоугольник22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YwgAAAkLAADsMQAAlhAAAAAAAAAmAAAACAAAAP//////////"/>
              </a:ext>
            </a:extLst>
          </p:cNvSpPr>
          <p:nvPr/>
        </p:nvSpPr>
        <p:spPr>
          <a:xfrm>
            <a:off x="1363345" y="1793875"/>
            <a:ext cx="6751955" cy="9023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Удалось разработать  мультиплатформенное приложение на Kotlin для работы c моделями машинного обучения. В связи с недостатотком времени</a:t>
            </a:r>
          </a:p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не удалось включить в проект разные объяснимые модели, добавлял только </a:t>
            </a:r>
          </a:p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шаблонные примеры, но раскрыть тему работу с ними в рамках kotlin бэкэнд</a:t>
            </a:r>
          </a:p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приложения, я считаю получилось </a:t>
            </a:r>
          </a:p>
        </p:txBody>
      </p:sp>
      <p:sp>
        <p:nvSpPr>
          <p:cNvPr id="9" name="Прямоугольник24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YwgAAN0TAADsMQAARxgAAAAgAAAmAAAACAAAAP//////////"/>
              </a:ext>
            </a:extLst>
          </p:cNvSpPr>
          <p:nvPr/>
        </p:nvSpPr>
        <p:spPr>
          <a:xfrm>
            <a:off x="1363345" y="3228975"/>
            <a:ext cx="6751955" cy="717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Проект  показался очень полезным в рамках понимания работы kotlin backend.</a:t>
            </a:r>
          </a:p>
          <a:p>
            <a:pPr>
              <a:defRPr lang="en-us" sz="1400" cap="none">
                <a:solidFill>
                  <a:srgbClr val="000000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Могу без сомнения поставить 10 из 10 этому новому опыту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AAAAAAAAAAAPz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iP////////9qOQAApB8AABAAAAAmAAAACAAAAP//////////"/>
              </a:ext>
            </a:extLst>
          </p:cNvSpPr>
          <p:nvPr/>
        </p:nvSpPr>
        <p:spPr>
          <a:xfrm>
            <a:off x="-76200" y="-635"/>
            <a:ext cx="9409430" cy="5144135"/>
          </a:xfrm>
          <a:custGeom>
            <a:avLst/>
            <a:gdLst/>
            <a:ahLst/>
            <a:cxnLst/>
            <a:rect l="0" t="0" r="9409430" b="5144135"/>
            <a:pathLst>
              <a:path w="9409430" h="5144135">
                <a:moveTo>
                  <a:pt x="0" y="0"/>
                </a:moveTo>
                <a:lnTo>
                  <a:pt x="9409430" y="0"/>
                </a:lnTo>
                <a:lnTo>
                  <a:pt x="9409430" y="5144135"/>
                </a:lnTo>
                <a:lnTo>
                  <a:pt x="0" y="514413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5" name="Изображение2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Hn4//8yAAAAaTkAAFgt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-1223645" y="31750"/>
            <a:ext cx="10556240" cy="733933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Кривая3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YQIAAFgLAAAKMQAA5Q8AABAAAAAmAAAACAAAAP//////////"/>
              </a:ext>
            </a:extLst>
          </p:cNvSpPr>
          <p:nvPr/>
        </p:nvSpPr>
        <p:spPr>
          <a:xfrm>
            <a:off x="386715" y="1844040"/>
            <a:ext cx="7585075" cy="739775"/>
          </a:xfrm>
          <a:custGeom>
            <a:avLst/>
            <a:gdLst/>
            <a:ahLst/>
            <a:cxnLst/>
            <a:rect l="0" t="0" r="7585075" b="739775"/>
            <a:pathLst>
              <a:path w="7585075" h="739775">
                <a:moveTo>
                  <a:pt x="0" y="0"/>
                </a:moveTo>
                <a:lnTo>
                  <a:pt x="7585075" y="0"/>
                </a:lnTo>
                <a:lnTo>
                  <a:pt x="7585075" y="739775"/>
                </a:lnTo>
                <a:lnTo>
                  <a:pt x="0" y="73977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7" name="Кривая4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eQcAANYSAABVEwAAZRUAABAAAAAmAAAACAAAAP//////////"/>
              </a:ext>
            </a:extLst>
          </p:cNvSpPr>
          <p:nvPr/>
        </p:nvSpPr>
        <p:spPr>
          <a:xfrm>
            <a:off x="1214755" y="3061970"/>
            <a:ext cx="1927860" cy="415925"/>
          </a:xfrm>
          <a:custGeom>
            <a:avLst/>
            <a:gdLst/>
            <a:ahLst/>
            <a:cxnLst/>
            <a:rect l="0" t="0" r="1927860" b="415925"/>
            <a:pathLst>
              <a:path w="1927860" h="415925">
                <a:moveTo>
                  <a:pt x="0" y="0"/>
                </a:moveTo>
                <a:lnTo>
                  <a:pt x="1927860" y="0"/>
                </a:lnTo>
                <a:lnTo>
                  <a:pt x="1927860" y="415925"/>
                </a:lnTo>
                <a:lnTo>
                  <a:pt x="0" y="41592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8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Kurq6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6AIAADwLAADaLQAAfg8AABAgAAAmAAAACAAAAP//////////"/>
              </a:ext>
            </a:extLst>
          </p:cNvSpPr>
          <p:nvPr/>
        </p:nvSpPr>
        <p:spPr>
          <a:xfrm>
            <a:off x="472440" y="1826260"/>
            <a:ext cx="6981190" cy="692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4000" b="1" cap="none">
                <a:solidFill>
                  <a:srgbClr val="FFFFFF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Вопросы и рекомендации</a:t>
            </a:r>
            <a:endParaRPr lang="en-us" sz="40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9" name="Кривая5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LW1tb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Wx4AANYSAACPKwAAZRUAABAAAAAmAAAACAAAAP//////////"/>
              </a:ext>
            </a:extLst>
          </p:cNvSpPr>
          <p:nvPr/>
        </p:nvSpPr>
        <p:spPr>
          <a:xfrm>
            <a:off x="4934585" y="3061970"/>
            <a:ext cx="2146300" cy="415925"/>
          </a:xfrm>
          <a:custGeom>
            <a:avLst/>
            <a:gdLst/>
            <a:ahLst/>
            <a:cxnLst/>
            <a:rect l="0" t="0" r="2146300" b="415925"/>
            <a:pathLst>
              <a:path w="2146300" h="415925">
                <a:moveTo>
                  <a:pt x="0" y="0"/>
                </a:moveTo>
                <a:lnTo>
                  <a:pt x="2146300" y="0"/>
                </a:lnTo>
                <a:lnTo>
                  <a:pt x="2146300" y="415925"/>
                </a:lnTo>
                <a:lnTo>
                  <a:pt x="0" y="41592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0" name="Прямоугольник2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B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gAADwTAADCEgAA1xQAABAgAAAmAAAACAAAAP//////////"/>
              </a:ext>
            </a:extLst>
          </p:cNvSpPr>
          <p:nvPr/>
        </p:nvSpPr>
        <p:spPr>
          <a:xfrm>
            <a:off x="1300480" y="3126740"/>
            <a:ext cx="1748790" cy="2609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500" cap="none">
                <a:solidFill>
                  <a:srgbClr val="FFFFFF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если есть вопросы</a:t>
            </a:r>
            <a:endParaRPr lang="en-us" sz="15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1" name="Кривая6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B0dHR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cgQAAIIRAAB5BwAAuBYAABAAAAAmAAAACAAAAP//////////"/>
              </a:ext>
            </a:extLst>
          </p:cNvSpPr>
          <p:nvPr/>
        </p:nvSpPr>
        <p:spPr>
          <a:xfrm>
            <a:off x="722630" y="2846070"/>
            <a:ext cx="492125" cy="847090"/>
          </a:xfrm>
          <a:custGeom>
            <a:avLst/>
            <a:gdLst/>
            <a:ahLst/>
            <a:cxnLst/>
            <a:rect l="0" t="0" r="492125" b="847090"/>
            <a:pathLst>
              <a:path w="492125" h="847090">
                <a:moveTo>
                  <a:pt x="0" y="0"/>
                </a:moveTo>
                <a:lnTo>
                  <a:pt x="492125" y="0"/>
                </a:lnTo>
                <a:lnTo>
                  <a:pt x="492125" y="847090"/>
                </a:lnTo>
                <a:lnTo>
                  <a:pt x="0" y="84709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2" name="Прямоугольник3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CcnJy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4h4AADwTAACbKQAA1xQAABAgAAAmAAAACAAAAP//////////"/>
              </a:ext>
            </a:extLst>
          </p:cNvSpPr>
          <p:nvPr/>
        </p:nvSpPr>
        <p:spPr>
          <a:xfrm>
            <a:off x="5020310" y="3126740"/>
            <a:ext cx="1743075" cy="2609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1500" cap="none">
                <a:solidFill>
                  <a:srgbClr val="FFFFFF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если вопросов нет</a:t>
            </a:r>
            <a:endParaRPr lang="en-us" sz="15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3" name="Кривая7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I6Ojo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VRsAAIIRAABcHgAAuBYAABAAAAAmAAAACAAAAP//////////"/>
              </a:ext>
            </a:extLst>
          </p:cNvSpPr>
          <p:nvPr/>
        </p:nvSpPr>
        <p:spPr>
          <a:xfrm>
            <a:off x="4443095" y="2846070"/>
            <a:ext cx="492125" cy="847090"/>
          </a:xfrm>
          <a:custGeom>
            <a:avLst/>
            <a:gdLst/>
            <a:ahLst/>
            <a:cxnLst/>
            <a:rect l="0" t="0" r="492125" b="847090"/>
            <a:pathLst>
              <a:path w="492125" h="847090">
                <a:moveTo>
                  <a:pt x="0" y="0"/>
                </a:moveTo>
                <a:lnTo>
                  <a:pt x="492125" y="0"/>
                </a:lnTo>
                <a:lnTo>
                  <a:pt x="492125" y="847090"/>
                </a:lnTo>
                <a:lnTo>
                  <a:pt x="0" y="84709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4" name="Прямоугольник4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C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+QQAAKwRAABVCAAAQBYAABAgAAAmAAAACAAAAP//////////"/>
              </a:ext>
            </a:extLst>
          </p:cNvSpPr>
          <p:nvPr/>
        </p:nvSpPr>
        <p:spPr>
          <a:xfrm>
            <a:off x="808355" y="2872740"/>
            <a:ext cx="546100" cy="7442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4300" cap="none">
                <a:solidFill>
                  <a:srgbClr val="FFFFFF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+</a:t>
            </a:r>
            <a:endParaRPr lang="en-us" sz="43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15" name="Прямоугольник5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VVVV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3RsAAKwRAAA4HwAAQBYAABAgAAAmAAAACAAAAP//////////"/>
              </a:ext>
            </a:extLst>
          </p:cNvSpPr>
          <p:nvPr/>
        </p:nvSpPr>
        <p:spPr>
          <a:xfrm>
            <a:off x="4529455" y="2872740"/>
            <a:ext cx="545465" cy="7442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4300" cap="none">
                <a:solidFill>
                  <a:srgbClr val="FFFFFF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– </a:t>
            </a:r>
            <a:endParaRPr lang="en-us" sz="43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ривая1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I+Pj4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AAAAAAAAAABAOAAApB8AABAAAAAmAAAACAAAAP//////////"/>
              </a:ext>
            </a:extLst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9144000" b="5143500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3" name="Изображение1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AAAAAAAAAAAPz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Кривая2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B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iP///wAAAABAOAAApB8AABAAAAAmAAAACAAAAP//////////"/>
              </a:ext>
            </a:extLst>
          </p:cNvSpPr>
          <p:nvPr/>
        </p:nvSpPr>
        <p:spPr>
          <a:xfrm>
            <a:off x="-76200" y="0"/>
            <a:ext cx="9220200" cy="5143500"/>
          </a:xfrm>
          <a:custGeom>
            <a:avLst/>
            <a:gdLst/>
            <a:ahLst/>
            <a:cxnLst/>
            <a:rect l="0" t="0" r="9220200" b="5143500"/>
            <a:pathLst>
              <a:path w="9220200" h="5143500">
                <a:moveTo>
                  <a:pt x="0" y="0"/>
                </a:moveTo>
                <a:lnTo>
                  <a:pt x="9220200" y="0"/>
                </a:lnTo>
                <a:lnTo>
                  <a:pt x="92202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5" name="Изображение2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Ij////i/P//PzgAAJk1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-506730"/>
            <a:ext cx="9219565" cy="921956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Кривая3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3gMAAOMLAAC/MAAA7RcAABAAAAAmAAAACAAAAP//////////"/>
              </a:ext>
            </a:extLst>
          </p:cNvSpPr>
          <p:nvPr/>
        </p:nvSpPr>
        <p:spPr>
          <a:xfrm>
            <a:off x="628650" y="1932305"/>
            <a:ext cx="7295515" cy="1957070"/>
          </a:xfrm>
          <a:custGeom>
            <a:avLst/>
            <a:gdLst/>
            <a:ahLst/>
            <a:cxnLst/>
            <a:rect l="0" t="0" r="7295515" b="1957070"/>
            <a:pathLst>
              <a:path w="7295515" h="1957070">
                <a:moveTo>
                  <a:pt x="0" y="0"/>
                </a:moveTo>
                <a:lnTo>
                  <a:pt x="7295515" y="0"/>
                </a:lnTo>
                <a:lnTo>
                  <a:pt x="7295515" y="1957070"/>
                </a:lnTo>
                <a:lnTo>
                  <a:pt x="0" y="19570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sp>
        <p:nvSpPr>
          <p:cNvPr id="7" name="Кривая4"/>
          <p:cNvSpPr>
            <a:extLst>
              <a:ext uri="smNativeData">
                <pr:smNativeData xmlns:pr="smNativeData" xmlns="smNativeData" val="SMDATA_15_Kv6qaBMAAAAlAAAACw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C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FC0AAPIJAAC/MAAAnQ0AABAAAAAmAAAACAAAAP//////////"/>
              </a:ext>
            </a:extLst>
          </p:cNvSpPr>
          <p:nvPr/>
        </p:nvSpPr>
        <p:spPr>
          <a:xfrm>
            <a:off x="7327900" y="1616710"/>
            <a:ext cx="596265" cy="596265"/>
          </a:xfrm>
          <a:custGeom>
            <a:avLst/>
            <a:gdLst/>
            <a:ahLst/>
            <a:cxnLst/>
            <a:rect l="0" t="0" r="596265" b="596265"/>
            <a:pathLst>
              <a:path w="596265" h="596265">
                <a:moveTo>
                  <a:pt x="0" y="0"/>
                </a:moveTo>
                <a:lnTo>
                  <a:pt x="596265" y="0"/>
                </a:lnTo>
                <a:lnTo>
                  <a:pt x="596265" y="596265"/>
                </a:lnTo>
                <a:lnTo>
                  <a:pt x="0" y="59626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/>
            <a:endParaRPr lang="en-us" sz="2400" cap="none">
              <a:solidFill>
                <a:srgbClr val="FFFFFF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  <p:pic>
        <p:nvPicPr>
          <p:cNvPr id="8" name="Изображение3"/>
          <p:cNvPicPr>
            <a:extLst>
              <a:ext uri="smNativeData">
                <pr:smNativeData xmlns:pr="smNativeData" xmlns="smNativeData" val="SMDATA_17_Kv6qaBMAAAAlAAAAEQAAAA0AAAAAkAAAAEgAAACQAAAAS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ijAwX///8BAAAAAAAAAAAAAAAAAAAAAAAAAAAAAAAAAAAAAAAAAAAAAAACf39/AP///wPMzMwAwMD/AH9/fwAAAAAAAAAAAAAAAAD///8AAAAAACEAAAAYAAAAFAAAABQtAADyCQAAvzAAAJwN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327900" y="1616710"/>
            <a:ext cx="596265" cy="59563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Прямоугольник1"/>
          <p:cNvSpPr>
            <a:extLst>
              <a:ext uri="smNativeData">
                <pr:smNativeData xmlns:pr="smNativeData" xmlns="smNativeData" val="SMDATA_15_Kv6qaB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C4uLi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ZQQAAP0LAABlMgAAUREAABAgAAAmAAAACAAAAP//////////"/>
              </a:ext>
            </a:extLst>
          </p:cNvSpPr>
          <p:nvPr/>
        </p:nvSpPr>
        <p:spPr>
          <a:xfrm>
            <a:off x="714375" y="1948815"/>
            <a:ext cx="7477760" cy="8661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/>
            <a:r>
              <a:rPr lang="en-us" sz="5000" b="1" cap="none">
                <a:solidFill>
                  <a:srgbClr val="FFFFFF"/>
                </a:solidFill>
                <a:latin typeface="Roboto" pitchFamily="0" charset="0"/>
                <a:ea typeface="Roboto" pitchFamily="0" charset="0"/>
                <a:cs typeface="DejaVu Sans" pitchFamily="0" charset="0"/>
              </a:rPr>
              <a:t>Спасибо за внимание!</a:t>
            </a:r>
            <a:endParaRPr lang="en-us" sz="5000" cap="none">
              <a:solidFill>
                <a:srgbClr val="000000"/>
              </a:solidFill>
              <a:latin typeface="Times New Roman" pitchFamily="1" charset="-52"/>
              <a:ea typeface="DejaVu Sans" pitchFamily="0" charset="0"/>
              <a:cs typeface="DejaVu Sans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noFill/>
        </a:ln>
        <a:effectLst/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AlexFil</cp:lastModifiedBy>
  <cp:revision>0</cp:revision>
  <dcterms:created xsi:type="dcterms:W3CDTF">2025-08-21T15:11:04Z</dcterms:created>
  <dcterms:modified xsi:type="dcterms:W3CDTF">2025-08-24T11:57:30Z</dcterms:modified>
</cp:coreProperties>
</file>